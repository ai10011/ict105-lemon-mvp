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Nunito Sans Expanded" charset="1" panose="00000000000000000000"/>
      <p:regular r:id="rId17"/>
    </p:embeddedFont>
    <p:embeddedFont>
      <p:font typeface="Montserrat" charset="1" panose="00000500000000000000"/>
      <p:regular r:id="rId18"/>
    </p:embeddedFont>
    <p:embeddedFont>
      <p:font typeface="Anton" charset="1" panose="00000500000000000000"/>
      <p:regular r:id="rId19"/>
    </p:embeddedFont>
    <p:embeddedFont>
      <p:font typeface="Nunito Sans Expanded Ultra-Bold" charset="1" panose="00000000000000000000"/>
      <p:regular r:id="rId20"/>
    </p:embeddedFont>
    <p:embeddedFont>
      <p:font typeface="Montserrat Semi-Bold" charset="1" panose="00000700000000000000"/>
      <p:regular r:id="rId21"/>
    </p:embeddedFont>
    <p:embeddedFont>
      <p:font typeface="Montserrat Bold" charset="1" panose="00000800000000000000"/>
      <p:regular r:id="rId22"/>
    </p:embeddedFont>
    <p:embeddedFont>
      <p:font typeface="Nickainley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833290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3825464">
              <a:off x="75518" y="-826119"/>
              <a:ext cx="2682253" cy="3245963"/>
            </a:xfrm>
            <a:custGeom>
              <a:avLst/>
              <a:gdLst/>
              <a:ahLst/>
              <a:cxnLst/>
              <a:rect r="r" b="b" t="t" l="l"/>
              <a:pathLst>
                <a:path h="3245963" w="2682253">
                  <a:moveTo>
                    <a:pt x="0" y="2541270"/>
                  </a:moveTo>
                  <a:lnTo>
                    <a:pt x="1252789" y="0"/>
                  </a:lnTo>
                  <a:lnTo>
                    <a:pt x="2682253" y="704694"/>
                  </a:lnTo>
                  <a:lnTo>
                    <a:pt x="1429465" y="3245963"/>
                  </a:lnTo>
                  <a:close/>
                </a:path>
              </a:pathLst>
            </a:custGeom>
            <a:blipFill>
              <a:blip r:embed="rId2"/>
              <a:stretch>
                <a:fillRect l="-10508" t="0" r="-1050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5FFB3">
                <a:alpha val="6392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7612787" y="2682176"/>
            <a:ext cx="84742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974482" y="6827342"/>
            <a:ext cx="900122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592782" y="2839835"/>
            <a:ext cx="15038834" cy="287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4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7694"/>
              </a:lnSpc>
              <a:spcBef>
                <a:spcPct val="0"/>
              </a:spcBef>
            </a:pPr>
            <a:r>
              <a:rPr lang="en-US" sz="5496">
                <a:solidFill>
                  <a:srgbClr val="2E4230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Smart Campus Lost-and-Found System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2538288">
            <a:off x="-3381124" y="-2601277"/>
            <a:ext cx="5202554" cy="5202554"/>
          </a:xfrm>
          <a:custGeom>
            <a:avLst/>
            <a:gdLst/>
            <a:ahLst/>
            <a:cxnLst/>
            <a:rect r="r" b="b" t="t" l="l"/>
            <a:pathLst>
              <a:path h="5202554" w="5202554">
                <a:moveTo>
                  <a:pt x="0" y="0"/>
                </a:moveTo>
                <a:lnTo>
                  <a:pt x="5202554" y="0"/>
                </a:lnTo>
                <a:lnTo>
                  <a:pt x="5202554" y="5202554"/>
                </a:lnTo>
                <a:lnTo>
                  <a:pt x="0" y="5202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94845" y="5841595"/>
            <a:ext cx="12434709" cy="39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63"/>
              </a:lnSpc>
              <a:spcBef>
                <a:spcPct val="0"/>
              </a:spcBef>
            </a:pPr>
            <a:r>
              <a:rPr lang="en-US" sz="225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Centralizing Campus Discovery, Accelerating Recovery, and Protecting Student Privacy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50750" y="2510726"/>
            <a:ext cx="308342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F3D24"/>
                </a:solidFill>
                <a:latin typeface="Anton"/>
                <a:ea typeface="Anton"/>
                <a:cs typeface="Anton"/>
                <a:sym typeface="Anton"/>
              </a:rPr>
              <a:t>Lemon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2538288">
            <a:off x="16161015" y="8163232"/>
            <a:ext cx="5202554" cy="5202554"/>
          </a:xfrm>
          <a:custGeom>
            <a:avLst/>
            <a:gdLst/>
            <a:ahLst/>
            <a:cxnLst/>
            <a:rect r="r" b="b" t="t" l="l"/>
            <a:pathLst>
              <a:path h="5202554" w="5202554">
                <a:moveTo>
                  <a:pt x="0" y="0"/>
                </a:moveTo>
                <a:lnTo>
                  <a:pt x="5202554" y="0"/>
                </a:lnTo>
                <a:lnTo>
                  <a:pt x="5202554" y="5202554"/>
                </a:lnTo>
                <a:lnTo>
                  <a:pt x="0" y="5202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70971" y="923925"/>
            <a:ext cx="10546059" cy="942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4"/>
              </a:lnSpc>
              <a:spcBef>
                <a:spcPct val="0"/>
              </a:spcBef>
            </a:pPr>
            <a:r>
              <a:rPr lang="en-US" b="true" sz="5496" strike="noStrike" u="none">
                <a:solidFill>
                  <a:srgbClr val="0F3D24"/>
                </a:solidFill>
                <a:latin typeface="Nunito Sans Expanded Ultra-Bold"/>
                <a:ea typeface="Nunito Sans Expanded Ultra-Bold"/>
                <a:cs typeface="Nunito Sans Expanded Ultra-Bold"/>
                <a:sym typeface="Nunito Sans Expanded Ultra-Bold"/>
              </a:rPr>
              <a:t>Meet the Team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4370259"/>
            <a:ext cx="18650883" cy="5916741"/>
            <a:chOff x="0" y="0"/>
            <a:chExt cx="4912167" cy="15583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12167" cy="1558319"/>
            </a:xfrm>
            <a:custGeom>
              <a:avLst/>
              <a:gdLst/>
              <a:ahLst/>
              <a:cxnLst/>
              <a:rect r="r" b="b" t="t" l="l"/>
              <a:pathLst>
                <a:path h="1558319" w="4912167">
                  <a:moveTo>
                    <a:pt x="0" y="0"/>
                  </a:moveTo>
                  <a:lnTo>
                    <a:pt x="4912167" y="0"/>
                  </a:lnTo>
                  <a:lnTo>
                    <a:pt x="4912167" y="1558319"/>
                  </a:lnTo>
                  <a:lnTo>
                    <a:pt x="0" y="1558319"/>
                  </a:lnTo>
                  <a:close/>
                </a:path>
              </a:pathLst>
            </a:custGeom>
            <a:solidFill>
              <a:srgbClr val="0F3D2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12167" cy="1605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521496" y="5416942"/>
            <a:ext cx="4701169" cy="1508925"/>
            <a:chOff x="0" y="0"/>
            <a:chExt cx="1238168" cy="3974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8168" cy="397412"/>
            </a:xfrm>
            <a:custGeom>
              <a:avLst/>
              <a:gdLst/>
              <a:ahLst/>
              <a:cxnLst/>
              <a:rect r="r" b="b" t="t" l="l"/>
              <a:pathLst>
                <a:path h="397412" w="1238168">
                  <a:moveTo>
                    <a:pt x="41170" y="0"/>
                  </a:moveTo>
                  <a:lnTo>
                    <a:pt x="1196998" y="0"/>
                  </a:lnTo>
                  <a:cubicBezTo>
                    <a:pt x="1207917" y="0"/>
                    <a:pt x="1218389" y="4338"/>
                    <a:pt x="1226109" y="12058"/>
                  </a:cubicBezTo>
                  <a:cubicBezTo>
                    <a:pt x="1233830" y="19779"/>
                    <a:pt x="1238168" y="30251"/>
                    <a:pt x="1238168" y="41170"/>
                  </a:cubicBezTo>
                  <a:lnTo>
                    <a:pt x="1238168" y="356242"/>
                  </a:lnTo>
                  <a:cubicBezTo>
                    <a:pt x="1238168" y="367161"/>
                    <a:pt x="1233830" y="377633"/>
                    <a:pt x="1226109" y="385354"/>
                  </a:cubicBezTo>
                  <a:cubicBezTo>
                    <a:pt x="1218389" y="393075"/>
                    <a:pt x="1207917" y="397412"/>
                    <a:pt x="1196998" y="397412"/>
                  </a:cubicBezTo>
                  <a:lnTo>
                    <a:pt x="41170" y="397412"/>
                  </a:lnTo>
                  <a:cubicBezTo>
                    <a:pt x="30251" y="397412"/>
                    <a:pt x="19779" y="393075"/>
                    <a:pt x="12058" y="385354"/>
                  </a:cubicBezTo>
                  <a:cubicBezTo>
                    <a:pt x="4338" y="377633"/>
                    <a:pt x="0" y="367161"/>
                    <a:pt x="0" y="356242"/>
                  </a:cubicBezTo>
                  <a:lnTo>
                    <a:pt x="0" y="41170"/>
                  </a:lnTo>
                  <a:cubicBezTo>
                    <a:pt x="0" y="30251"/>
                    <a:pt x="4338" y="19779"/>
                    <a:pt x="12058" y="12058"/>
                  </a:cubicBezTo>
                  <a:cubicBezTo>
                    <a:pt x="19779" y="4338"/>
                    <a:pt x="30251" y="0"/>
                    <a:pt x="41170" y="0"/>
                  </a:cubicBezTo>
                  <a:close/>
                </a:path>
              </a:pathLst>
            </a:custGeom>
            <a:solidFill>
              <a:srgbClr val="75FFB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38168" cy="445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521496" y="8085502"/>
            <a:ext cx="4701169" cy="1508925"/>
            <a:chOff x="0" y="0"/>
            <a:chExt cx="1238168" cy="3974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8168" cy="397412"/>
            </a:xfrm>
            <a:custGeom>
              <a:avLst/>
              <a:gdLst/>
              <a:ahLst/>
              <a:cxnLst/>
              <a:rect r="r" b="b" t="t" l="l"/>
              <a:pathLst>
                <a:path h="397412" w="1238168">
                  <a:moveTo>
                    <a:pt x="41170" y="0"/>
                  </a:moveTo>
                  <a:lnTo>
                    <a:pt x="1196998" y="0"/>
                  </a:lnTo>
                  <a:cubicBezTo>
                    <a:pt x="1207917" y="0"/>
                    <a:pt x="1218389" y="4338"/>
                    <a:pt x="1226109" y="12058"/>
                  </a:cubicBezTo>
                  <a:cubicBezTo>
                    <a:pt x="1233830" y="19779"/>
                    <a:pt x="1238168" y="30251"/>
                    <a:pt x="1238168" y="41170"/>
                  </a:cubicBezTo>
                  <a:lnTo>
                    <a:pt x="1238168" y="356242"/>
                  </a:lnTo>
                  <a:cubicBezTo>
                    <a:pt x="1238168" y="367161"/>
                    <a:pt x="1233830" y="377633"/>
                    <a:pt x="1226109" y="385354"/>
                  </a:cubicBezTo>
                  <a:cubicBezTo>
                    <a:pt x="1218389" y="393075"/>
                    <a:pt x="1207917" y="397412"/>
                    <a:pt x="1196998" y="397412"/>
                  </a:cubicBezTo>
                  <a:lnTo>
                    <a:pt x="41170" y="397412"/>
                  </a:lnTo>
                  <a:cubicBezTo>
                    <a:pt x="30251" y="397412"/>
                    <a:pt x="19779" y="393075"/>
                    <a:pt x="12058" y="385354"/>
                  </a:cubicBezTo>
                  <a:cubicBezTo>
                    <a:pt x="4338" y="377633"/>
                    <a:pt x="0" y="367161"/>
                    <a:pt x="0" y="356242"/>
                  </a:cubicBezTo>
                  <a:lnTo>
                    <a:pt x="0" y="41170"/>
                  </a:lnTo>
                  <a:cubicBezTo>
                    <a:pt x="0" y="30251"/>
                    <a:pt x="4338" y="19779"/>
                    <a:pt x="12058" y="12058"/>
                  </a:cubicBezTo>
                  <a:cubicBezTo>
                    <a:pt x="19779" y="4338"/>
                    <a:pt x="30251" y="0"/>
                    <a:pt x="41170" y="0"/>
                  </a:cubicBezTo>
                  <a:close/>
                </a:path>
              </a:pathLst>
            </a:custGeom>
            <a:solidFill>
              <a:srgbClr val="75FFB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8168" cy="445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25344" y="5416942"/>
            <a:ext cx="4701169" cy="1508950"/>
            <a:chOff x="0" y="0"/>
            <a:chExt cx="1238123" cy="3973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38123" cy="397383"/>
            </a:xfrm>
            <a:custGeom>
              <a:avLst/>
              <a:gdLst/>
              <a:ahLst/>
              <a:cxnLst/>
              <a:rect r="r" b="b" t="t" l="l"/>
              <a:pathLst>
                <a:path h="397383" w="1238123">
                  <a:moveTo>
                    <a:pt x="1238123" y="41170"/>
                  </a:moveTo>
                  <a:lnTo>
                    <a:pt x="1238123" y="356213"/>
                  </a:lnTo>
                  <a:cubicBezTo>
                    <a:pt x="1238123" y="367132"/>
                    <a:pt x="1233785" y="377604"/>
                    <a:pt x="1226065" y="385325"/>
                  </a:cubicBezTo>
                  <a:cubicBezTo>
                    <a:pt x="1218344" y="393045"/>
                    <a:pt x="1207872" y="397383"/>
                    <a:pt x="1196953" y="397383"/>
                  </a:cubicBezTo>
                  <a:lnTo>
                    <a:pt x="41170" y="397383"/>
                  </a:lnTo>
                  <a:cubicBezTo>
                    <a:pt x="30251" y="397383"/>
                    <a:pt x="19779" y="393045"/>
                    <a:pt x="12058" y="385325"/>
                  </a:cubicBezTo>
                  <a:cubicBezTo>
                    <a:pt x="4338" y="377604"/>
                    <a:pt x="0" y="367132"/>
                    <a:pt x="0" y="356213"/>
                  </a:cubicBezTo>
                  <a:lnTo>
                    <a:pt x="0" y="41170"/>
                  </a:lnTo>
                  <a:cubicBezTo>
                    <a:pt x="0" y="30251"/>
                    <a:pt x="4338" y="19779"/>
                    <a:pt x="12058" y="12058"/>
                  </a:cubicBezTo>
                  <a:cubicBezTo>
                    <a:pt x="19779" y="4338"/>
                    <a:pt x="30251" y="0"/>
                    <a:pt x="41170" y="0"/>
                  </a:cubicBezTo>
                  <a:lnTo>
                    <a:pt x="1196953" y="0"/>
                  </a:lnTo>
                  <a:cubicBezTo>
                    <a:pt x="1207872" y="0"/>
                    <a:pt x="1218344" y="4338"/>
                    <a:pt x="1226065" y="12058"/>
                  </a:cubicBezTo>
                  <a:cubicBezTo>
                    <a:pt x="1233785" y="19779"/>
                    <a:pt x="1238123" y="30251"/>
                    <a:pt x="1238123" y="41170"/>
                  </a:cubicBezTo>
                  <a:close/>
                </a:path>
              </a:pathLst>
            </a:custGeom>
            <a:solidFill>
              <a:srgbClr val="75FFB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38123" cy="445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25344" y="8085502"/>
            <a:ext cx="4701169" cy="1508925"/>
            <a:chOff x="0" y="0"/>
            <a:chExt cx="1238168" cy="3974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8168" cy="397412"/>
            </a:xfrm>
            <a:custGeom>
              <a:avLst/>
              <a:gdLst/>
              <a:ahLst/>
              <a:cxnLst/>
              <a:rect r="r" b="b" t="t" l="l"/>
              <a:pathLst>
                <a:path h="397412" w="1238168">
                  <a:moveTo>
                    <a:pt x="41170" y="0"/>
                  </a:moveTo>
                  <a:lnTo>
                    <a:pt x="1196998" y="0"/>
                  </a:lnTo>
                  <a:cubicBezTo>
                    <a:pt x="1207917" y="0"/>
                    <a:pt x="1218389" y="4338"/>
                    <a:pt x="1226109" y="12058"/>
                  </a:cubicBezTo>
                  <a:cubicBezTo>
                    <a:pt x="1233830" y="19779"/>
                    <a:pt x="1238168" y="30251"/>
                    <a:pt x="1238168" y="41170"/>
                  </a:cubicBezTo>
                  <a:lnTo>
                    <a:pt x="1238168" y="356242"/>
                  </a:lnTo>
                  <a:cubicBezTo>
                    <a:pt x="1238168" y="367161"/>
                    <a:pt x="1233830" y="377633"/>
                    <a:pt x="1226109" y="385354"/>
                  </a:cubicBezTo>
                  <a:cubicBezTo>
                    <a:pt x="1218389" y="393075"/>
                    <a:pt x="1207917" y="397412"/>
                    <a:pt x="1196998" y="397412"/>
                  </a:cubicBezTo>
                  <a:lnTo>
                    <a:pt x="41170" y="397412"/>
                  </a:lnTo>
                  <a:cubicBezTo>
                    <a:pt x="30251" y="397412"/>
                    <a:pt x="19779" y="393075"/>
                    <a:pt x="12058" y="385354"/>
                  </a:cubicBezTo>
                  <a:cubicBezTo>
                    <a:pt x="4338" y="377633"/>
                    <a:pt x="0" y="367161"/>
                    <a:pt x="0" y="356242"/>
                  </a:cubicBezTo>
                  <a:lnTo>
                    <a:pt x="0" y="41170"/>
                  </a:lnTo>
                  <a:cubicBezTo>
                    <a:pt x="0" y="30251"/>
                    <a:pt x="4338" y="19779"/>
                    <a:pt x="12058" y="12058"/>
                  </a:cubicBezTo>
                  <a:cubicBezTo>
                    <a:pt x="19779" y="4338"/>
                    <a:pt x="30251" y="0"/>
                    <a:pt x="41170" y="0"/>
                  </a:cubicBezTo>
                  <a:close/>
                </a:path>
              </a:pathLst>
            </a:custGeom>
            <a:solidFill>
              <a:srgbClr val="75FFB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238168" cy="445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524250" y="5581650"/>
            <a:ext cx="4705350" cy="39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003217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Kyaw Ye Lin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0" y="5581650"/>
            <a:ext cx="4705350" cy="39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003217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Phollapat Rodchue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24250" y="8248650"/>
            <a:ext cx="4705350" cy="39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003217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Tin May Lin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30000" y="8248650"/>
            <a:ext cx="4705350" cy="39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003217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Phoochit Jantakam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10055" y="2203178"/>
            <a:ext cx="7067890" cy="50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 strike="noStrike" u="none">
                <a:solidFill>
                  <a:srgbClr val="0F3D2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The Minds Behind Lemon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24250" y="6381750"/>
            <a:ext cx="47053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F3D24"/>
                </a:solidFill>
                <a:latin typeface="Montserrat"/>
                <a:ea typeface="Montserrat"/>
                <a:cs typeface="Montserrat"/>
                <a:sym typeface="Montserrat"/>
              </a:rPr>
              <a:t>Product Lead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30000" y="6381750"/>
            <a:ext cx="4705350" cy="3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 strike="noStrike" u="none">
                <a:solidFill>
                  <a:srgbClr val="0F3D24"/>
                </a:solidFill>
                <a:latin typeface="Montserrat"/>
                <a:ea typeface="Montserrat"/>
                <a:cs typeface="Montserrat"/>
                <a:sym typeface="Montserrat"/>
              </a:rPr>
              <a:t>Technical Lead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524250" y="9048750"/>
            <a:ext cx="4705350" cy="3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 strike="noStrike" u="none">
                <a:solidFill>
                  <a:srgbClr val="0F3D24"/>
                </a:solidFill>
                <a:latin typeface="Montserrat"/>
                <a:ea typeface="Montserrat"/>
                <a:cs typeface="Montserrat"/>
                <a:sym typeface="Montserrat"/>
              </a:rPr>
              <a:t>UX/UI Lead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30000" y="9048750"/>
            <a:ext cx="4705350" cy="3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 strike="noStrike" u="none">
                <a:solidFill>
                  <a:srgbClr val="0F3D24"/>
                </a:solidFill>
                <a:latin typeface="Montserrat"/>
                <a:ea typeface="Montserrat"/>
                <a:cs typeface="Montserrat"/>
                <a:sym typeface="Montserrat"/>
              </a:rPr>
              <a:t>Documentation Lead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61487" y="3063758"/>
            <a:ext cx="13965027" cy="545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70"/>
              </a:lnSpc>
              <a:spcBef>
                <a:spcPct val="0"/>
              </a:spcBef>
            </a:pPr>
            <a:r>
              <a:rPr lang="en-US" sz="1621" strike="noStrike" u="none">
                <a:solidFill>
                  <a:srgbClr val="2E4230"/>
                </a:solidFill>
                <a:latin typeface="Montserrat"/>
                <a:ea typeface="Montserrat"/>
                <a:cs typeface="Montserrat"/>
                <a:sym typeface="Montserrat"/>
              </a:rPr>
              <a:t>A multidisciplinary team of ICT105 students combining product strategy, technical engineering, UX design, and documentation to deliver a privacy-first campus lost-and-found system.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77591" y="0"/>
            <a:ext cx="4510409" cy="10287000"/>
            <a:chOff x="0" y="0"/>
            <a:chExt cx="118792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792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87927">
                  <a:moveTo>
                    <a:pt x="0" y="0"/>
                  </a:moveTo>
                  <a:lnTo>
                    <a:pt x="1187927" y="0"/>
                  </a:lnTo>
                  <a:lnTo>
                    <a:pt x="11879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3D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87927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23925"/>
            <a:ext cx="12439044" cy="191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4"/>
              </a:lnSpc>
              <a:spcBef>
                <a:spcPct val="0"/>
              </a:spcBef>
            </a:pPr>
            <a:r>
              <a:rPr lang="en-US" b="true" sz="5496" strike="noStrike" u="none">
                <a:solidFill>
                  <a:srgbClr val="0F3D24"/>
                </a:solidFill>
                <a:latin typeface="Nunito Sans Expanded Ultra-Bold"/>
                <a:ea typeface="Nunito Sans Expanded Ultra-Bold"/>
                <a:cs typeface="Nunito Sans Expanded Ultra-Bold"/>
                <a:sym typeface="Nunito Sans Expanded Ultra-Bold"/>
              </a:rPr>
              <a:t>The Campus Lost-and-Found Crisis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5925509"/>
            <a:ext cx="13777591" cy="4361491"/>
            <a:chOff x="0" y="0"/>
            <a:chExt cx="3628666" cy="11487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28666" cy="1148705"/>
            </a:xfrm>
            <a:custGeom>
              <a:avLst/>
              <a:gdLst/>
              <a:ahLst/>
              <a:cxnLst/>
              <a:rect r="r" b="b" t="t" l="l"/>
              <a:pathLst>
                <a:path h="1148705" w="3628666">
                  <a:moveTo>
                    <a:pt x="0" y="0"/>
                  </a:moveTo>
                  <a:lnTo>
                    <a:pt x="3628666" y="0"/>
                  </a:lnTo>
                  <a:lnTo>
                    <a:pt x="3628666" y="1148705"/>
                  </a:lnTo>
                  <a:lnTo>
                    <a:pt x="0" y="1148705"/>
                  </a:lnTo>
                  <a:close/>
                </a:path>
              </a:pathLst>
            </a:custGeom>
            <a:solidFill>
              <a:srgbClr val="8EFFC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628666" cy="1196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4524965"/>
            <a:ext cx="2671084" cy="2312639"/>
            <a:chOff x="0" y="0"/>
            <a:chExt cx="1107239" cy="9586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7239" cy="958653"/>
            </a:xfrm>
            <a:custGeom>
              <a:avLst/>
              <a:gdLst/>
              <a:ahLst/>
              <a:cxnLst/>
              <a:rect r="r" b="b" t="t" l="l"/>
              <a:pathLst>
                <a:path h="958653" w="1107239">
                  <a:moveTo>
                    <a:pt x="260858" y="0"/>
                  </a:moveTo>
                  <a:lnTo>
                    <a:pt x="846381" y="0"/>
                  </a:lnTo>
                  <a:cubicBezTo>
                    <a:pt x="915565" y="0"/>
                    <a:pt x="981915" y="27483"/>
                    <a:pt x="1030835" y="76403"/>
                  </a:cubicBezTo>
                  <a:cubicBezTo>
                    <a:pt x="1079756" y="125324"/>
                    <a:pt x="1107239" y="191674"/>
                    <a:pt x="1107239" y="260858"/>
                  </a:cubicBezTo>
                  <a:lnTo>
                    <a:pt x="1107239" y="697796"/>
                  </a:lnTo>
                  <a:cubicBezTo>
                    <a:pt x="1107239" y="841863"/>
                    <a:pt x="990449" y="958653"/>
                    <a:pt x="846381" y="958653"/>
                  </a:cubicBezTo>
                  <a:lnTo>
                    <a:pt x="260858" y="958653"/>
                  </a:lnTo>
                  <a:cubicBezTo>
                    <a:pt x="116790" y="958653"/>
                    <a:pt x="0" y="841863"/>
                    <a:pt x="0" y="697796"/>
                  </a:cubicBezTo>
                  <a:lnTo>
                    <a:pt x="0" y="260858"/>
                  </a:lnTo>
                  <a:cubicBezTo>
                    <a:pt x="0" y="116790"/>
                    <a:pt x="116790" y="0"/>
                    <a:pt x="260858" y="0"/>
                  </a:cubicBezTo>
                  <a:close/>
                </a:path>
              </a:pathLst>
            </a:custGeom>
            <a:blipFill>
              <a:blip r:embed="rId2"/>
              <a:stretch>
                <a:fillRect l="-46" t="0" r="-46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114343" y="2837646"/>
            <a:ext cx="5326496" cy="4611709"/>
            <a:chOff x="0" y="0"/>
            <a:chExt cx="1107239" cy="9586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7239" cy="958653"/>
            </a:xfrm>
            <a:custGeom>
              <a:avLst/>
              <a:gdLst/>
              <a:ahLst/>
              <a:cxnLst/>
              <a:rect r="r" b="b" t="t" l="l"/>
              <a:pathLst>
                <a:path h="958653" w="1107239">
                  <a:moveTo>
                    <a:pt x="29069" y="0"/>
                  </a:moveTo>
                  <a:lnTo>
                    <a:pt x="1078169" y="0"/>
                  </a:lnTo>
                  <a:cubicBezTo>
                    <a:pt x="1085879" y="0"/>
                    <a:pt x="1093273" y="3063"/>
                    <a:pt x="1098724" y="8514"/>
                  </a:cubicBezTo>
                  <a:cubicBezTo>
                    <a:pt x="1104176" y="13966"/>
                    <a:pt x="1107239" y="21360"/>
                    <a:pt x="1107239" y="29069"/>
                  </a:cubicBezTo>
                  <a:lnTo>
                    <a:pt x="1107239" y="929584"/>
                  </a:lnTo>
                  <a:cubicBezTo>
                    <a:pt x="1107239" y="937293"/>
                    <a:pt x="1104176" y="944687"/>
                    <a:pt x="1098724" y="950139"/>
                  </a:cubicBezTo>
                  <a:cubicBezTo>
                    <a:pt x="1093273" y="955591"/>
                    <a:pt x="1085879" y="958653"/>
                    <a:pt x="1078169" y="958653"/>
                  </a:cubicBezTo>
                  <a:lnTo>
                    <a:pt x="29069" y="958653"/>
                  </a:lnTo>
                  <a:cubicBezTo>
                    <a:pt x="21360" y="958653"/>
                    <a:pt x="13966" y="955591"/>
                    <a:pt x="8514" y="950139"/>
                  </a:cubicBezTo>
                  <a:cubicBezTo>
                    <a:pt x="3063" y="944687"/>
                    <a:pt x="0" y="937293"/>
                    <a:pt x="0" y="929584"/>
                  </a:cubicBezTo>
                  <a:lnTo>
                    <a:pt x="0" y="29069"/>
                  </a:lnTo>
                  <a:cubicBezTo>
                    <a:pt x="0" y="21360"/>
                    <a:pt x="3063" y="13966"/>
                    <a:pt x="8514" y="8514"/>
                  </a:cubicBezTo>
                  <a:cubicBezTo>
                    <a:pt x="13966" y="3063"/>
                    <a:pt x="21360" y="0"/>
                    <a:pt x="29069" y="0"/>
                  </a:cubicBezTo>
                  <a:close/>
                </a:path>
              </a:pathLst>
            </a:custGeom>
            <a:blipFill>
              <a:blip r:embed="rId3"/>
              <a:stretch>
                <a:fillRect l="-46" t="0" r="-46" b="0"/>
              </a:stretch>
            </a:blipFill>
            <a:ln w="95250" cap="sq">
              <a:solidFill>
                <a:srgbClr val="00829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3399411"/>
            <a:ext cx="882297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0F3D2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Fragmented, Inefficient, and Frustrating for Everyone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044690"/>
            <a:ext cx="8822975" cy="232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001001"/>
                </a:solidFill>
                <a:latin typeface="Montserrat"/>
                <a:ea typeface="Montserrat"/>
                <a:cs typeface="Montserrat"/>
                <a:sym typeface="Montserrat"/>
              </a:rPr>
              <a:t>Lost item reports are </a:t>
            </a:r>
            <a:r>
              <a:rPr lang="en-US" sz="2199" strike="noStrike" u="none">
                <a:solidFill>
                  <a:srgbClr val="001001"/>
                </a:solidFill>
                <a:latin typeface="Montserrat"/>
                <a:ea typeface="Montserrat"/>
                <a:cs typeface="Montserrat"/>
                <a:sym typeface="Montserrat"/>
              </a:rPr>
              <a:t>scattered</a:t>
            </a:r>
            <a:r>
              <a:rPr lang="en-US" b="true" sz="2199" strike="noStrike" u="none">
                <a:solidFill>
                  <a:srgbClr val="0010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199" strike="noStrike" u="none">
                <a:solidFill>
                  <a:srgbClr val="001001"/>
                </a:solidFill>
                <a:latin typeface="Montserrat"/>
                <a:ea typeface="Montserrat"/>
                <a:cs typeface="Montserrat"/>
                <a:sym typeface="Montserrat"/>
              </a:rPr>
              <a:t>across LINE groups, Discord servers, and Facebook posts — with </a:t>
            </a:r>
            <a:r>
              <a:rPr lang="en-US" b="true" sz="2199" strike="noStrike" u="none">
                <a:solidFill>
                  <a:srgbClr val="0010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central</a:t>
            </a:r>
            <a:r>
              <a:rPr lang="en-US" sz="2199" strike="noStrike" u="none">
                <a:solidFill>
                  <a:srgbClr val="001001"/>
                </a:solidFill>
                <a:latin typeface="Montserrat"/>
                <a:ea typeface="Montserrat"/>
                <a:cs typeface="Montserrat"/>
                <a:sym typeface="Montserrat"/>
              </a:rPr>
              <a:t> system. </a:t>
            </a:r>
            <a:r>
              <a:rPr lang="en-US" b="true" sz="2199" strike="noStrike" u="none">
                <a:solidFill>
                  <a:srgbClr val="0010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65% </a:t>
            </a:r>
            <a:r>
              <a:rPr lang="en-US" sz="2199" strike="noStrike" u="none">
                <a:solidFill>
                  <a:srgbClr val="001001"/>
                </a:solidFill>
                <a:latin typeface="Montserrat"/>
                <a:ea typeface="Montserrat"/>
                <a:cs typeface="Montserrat"/>
                <a:sym typeface="Montserrat"/>
              </a:rPr>
              <a:t>of students abandon their search within </a:t>
            </a:r>
            <a:r>
              <a:rPr lang="en-US" b="true" sz="2199" strike="noStrike" u="none">
                <a:solidFill>
                  <a:srgbClr val="0010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24 hours</a:t>
            </a:r>
            <a:r>
              <a:rPr lang="en-US" sz="2199" strike="noStrike" u="none">
                <a:solidFill>
                  <a:srgbClr val="001001"/>
                </a:solidFill>
                <a:latin typeface="Montserrat"/>
                <a:ea typeface="Montserrat"/>
                <a:cs typeface="Montserrat"/>
                <a:sym typeface="Montserrat"/>
              </a:rPr>
              <a:t>. Students lose IDs, calculators, USBs, and access cards daily, while campus security staff are overwhelmed by manual logs and constant inquiries.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499637"/>
            <a:ext cx="18288000" cy="5787363"/>
            <a:chOff x="0" y="0"/>
            <a:chExt cx="4816593" cy="1524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524244"/>
            </a:xfrm>
            <a:custGeom>
              <a:avLst/>
              <a:gdLst/>
              <a:ahLst/>
              <a:cxnLst/>
              <a:rect r="r" b="b" t="t" l="l"/>
              <a:pathLst>
                <a:path h="152424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24244"/>
                  </a:lnTo>
                  <a:lnTo>
                    <a:pt x="0" y="1524244"/>
                  </a:lnTo>
                  <a:close/>
                </a:path>
              </a:pathLst>
            </a:custGeom>
            <a:solidFill>
              <a:srgbClr val="0F3D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571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5091" y="5661712"/>
            <a:ext cx="1218448" cy="1218448"/>
            <a:chOff x="0" y="0"/>
            <a:chExt cx="320908" cy="3209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908" cy="320908"/>
            </a:xfrm>
            <a:custGeom>
              <a:avLst/>
              <a:gdLst/>
              <a:ahLst/>
              <a:cxnLst/>
              <a:rect r="r" b="b" t="t" l="l"/>
              <a:pathLst>
                <a:path h="320908" w="320908">
                  <a:moveTo>
                    <a:pt x="50831" y="0"/>
                  </a:moveTo>
                  <a:lnTo>
                    <a:pt x="270077" y="0"/>
                  </a:lnTo>
                  <a:cubicBezTo>
                    <a:pt x="298150" y="0"/>
                    <a:pt x="320908" y="22758"/>
                    <a:pt x="320908" y="50831"/>
                  </a:cubicBezTo>
                  <a:lnTo>
                    <a:pt x="320908" y="270077"/>
                  </a:lnTo>
                  <a:cubicBezTo>
                    <a:pt x="320908" y="298150"/>
                    <a:pt x="298150" y="320908"/>
                    <a:pt x="270077" y="320908"/>
                  </a:cubicBezTo>
                  <a:lnTo>
                    <a:pt x="50831" y="320908"/>
                  </a:lnTo>
                  <a:cubicBezTo>
                    <a:pt x="22758" y="320908"/>
                    <a:pt x="0" y="298150"/>
                    <a:pt x="0" y="270077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75FFB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20908" cy="368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68165" y="5661712"/>
            <a:ext cx="1218448" cy="1218448"/>
            <a:chOff x="0" y="0"/>
            <a:chExt cx="320908" cy="3209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908" cy="320908"/>
            </a:xfrm>
            <a:custGeom>
              <a:avLst/>
              <a:gdLst/>
              <a:ahLst/>
              <a:cxnLst/>
              <a:rect r="r" b="b" t="t" l="l"/>
              <a:pathLst>
                <a:path h="320908" w="320908">
                  <a:moveTo>
                    <a:pt x="50831" y="0"/>
                  </a:moveTo>
                  <a:lnTo>
                    <a:pt x="270077" y="0"/>
                  </a:lnTo>
                  <a:cubicBezTo>
                    <a:pt x="298150" y="0"/>
                    <a:pt x="320908" y="22758"/>
                    <a:pt x="320908" y="50831"/>
                  </a:cubicBezTo>
                  <a:lnTo>
                    <a:pt x="320908" y="270077"/>
                  </a:lnTo>
                  <a:cubicBezTo>
                    <a:pt x="320908" y="298150"/>
                    <a:pt x="298150" y="320908"/>
                    <a:pt x="270077" y="320908"/>
                  </a:cubicBezTo>
                  <a:lnTo>
                    <a:pt x="50831" y="320908"/>
                  </a:lnTo>
                  <a:cubicBezTo>
                    <a:pt x="22758" y="320908"/>
                    <a:pt x="0" y="298150"/>
                    <a:pt x="0" y="270077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74FFB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20908" cy="368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575091" y="7541250"/>
            <a:ext cx="1218448" cy="1218448"/>
            <a:chOff x="0" y="0"/>
            <a:chExt cx="320908" cy="3209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0908" cy="320908"/>
            </a:xfrm>
            <a:custGeom>
              <a:avLst/>
              <a:gdLst/>
              <a:ahLst/>
              <a:cxnLst/>
              <a:rect r="r" b="b" t="t" l="l"/>
              <a:pathLst>
                <a:path h="320908" w="320908">
                  <a:moveTo>
                    <a:pt x="50831" y="0"/>
                  </a:moveTo>
                  <a:lnTo>
                    <a:pt x="270077" y="0"/>
                  </a:lnTo>
                  <a:cubicBezTo>
                    <a:pt x="298150" y="0"/>
                    <a:pt x="320908" y="22758"/>
                    <a:pt x="320908" y="50831"/>
                  </a:cubicBezTo>
                  <a:lnTo>
                    <a:pt x="320908" y="270077"/>
                  </a:lnTo>
                  <a:cubicBezTo>
                    <a:pt x="320908" y="298150"/>
                    <a:pt x="298150" y="320908"/>
                    <a:pt x="270077" y="320908"/>
                  </a:cubicBezTo>
                  <a:lnTo>
                    <a:pt x="50831" y="320908"/>
                  </a:lnTo>
                  <a:cubicBezTo>
                    <a:pt x="22758" y="320908"/>
                    <a:pt x="0" y="298150"/>
                    <a:pt x="0" y="270077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74FFB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20908" cy="368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068165" y="7541250"/>
            <a:ext cx="1218448" cy="1218448"/>
            <a:chOff x="0" y="0"/>
            <a:chExt cx="320908" cy="3209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0908" cy="320908"/>
            </a:xfrm>
            <a:custGeom>
              <a:avLst/>
              <a:gdLst/>
              <a:ahLst/>
              <a:cxnLst/>
              <a:rect r="r" b="b" t="t" l="l"/>
              <a:pathLst>
                <a:path h="320908" w="320908">
                  <a:moveTo>
                    <a:pt x="50831" y="0"/>
                  </a:moveTo>
                  <a:lnTo>
                    <a:pt x="270077" y="0"/>
                  </a:lnTo>
                  <a:cubicBezTo>
                    <a:pt x="298150" y="0"/>
                    <a:pt x="320908" y="22758"/>
                    <a:pt x="320908" y="50831"/>
                  </a:cubicBezTo>
                  <a:lnTo>
                    <a:pt x="320908" y="270077"/>
                  </a:lnTo>
                  <a:cubicBezTo>
                    <a:pt x="320908" y="298150"/>
                    <a:pt x="298150" y="320908"/>
                    <a:pt x="270077" y="320908"/>
                  </a:cubicBezTo>
                  <a:lnTo>
                    <a:pt x="50831" y="320908"/>
                  </a:lnTo>
                  <a:cubicBezTo>
                    <a:pt x="22758" y="320908"/>
                    <a:pt x="0" y="298150"/>
                    <a:pt x="0" y="270077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74FFB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20908" cy="368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758052" y="5844058"/>
            <a:ext cx="853756" cy="853756"/>
          </a:xfrm>
          <a:custGeom>
            <a:avLst/>
            <a:gdLst/>
            <a:ahLst/>
            <a:cxnLst/>
            <a:rect r="r" b="b" t="t" l="l"/>
            <a:pathLst>
              <a:path h="853756" w="853756">
                <a:moveTo>
                  <a:pt x="0" y="0"/>
                </a:moveTo>
                <a:lnTo>
                  <a:pt x="853757" y="0"/>
                </a:lnTo>
                <a:lnTo>
                  <a:pt x="853757" y="853757"/>
                </a:lnTo>
                <a:lnTo>
                  <a:pt x="0" y="853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756821" y="7722980"/>
            <a:ext cx="854988" cy="854988"/>
          </a:xfrm>
          <a:custGeom>
            <a:avLst/>
            <a:gdLst/>
            <a:ahLst/>
            <a:cxnLst/>
            <a:rect r="r" b="b" t="t" l="l"/>
            <a:pathLst>
              <a:path h="854988" w="854988">
                <a:moveTo>
                  <a:pt x="0" y="0"/>
                </a:moveTo>
                <a:lnTo>
                  <a:pt x="854988" y="0"/>
                </a:lnTo>
                <a:lnTo>
                  <a:pt x="854988" y="854987"/>
                </a:lnTo>
                <a:lnTo>
                  <a:pt x="0" y="854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362680" y="5956228"/>
            <a:ext cx="629417" cy="629417"/>
          </a:xfrm>
          <a:custGeom>
            <a:avLst/>
            <a:gdLst/>
            <a:ahLst/>
            <a:cxnLst/>
            <a:rect r="r" b="b" t="t" l="l"/>
            <a:pathLst>
              <a:path h="629417" w="629417">
                <a:moveTo>
                  <a:pt x="0" y="0"/>
                </a:moveTo>
                <a:lnTo>
                  <a:pt x="629417" y="0"/>
                </a:lnTo>
                <a:lnTo>
                  <a:pt x="629417" y="629417"/>
                </a:lnTo>
                <a:lnTo>
                  <a:pt x="0" y="629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224942" y="5816145"/>
            <a:ext cx="904893" cy="904893"/>
          </a:xfrm>
          <a:custGeom>
            <a:avLst/>
            <a:gdLst/>
            <a:ahLst/>
            <a:cxnLst/>
            <a:rect r="r" b="b" t="t" l="l"/>
            <a:pathLst>
              <a:path h="904893" w="904893">
                <a:moveTo>
                  <a:pt x="0" y="0"/>
                </a:moveTo>
                <a:lnTo>
                  <a:pt x="904893" y="0"/>
                </a:lnTo>
                <a:lnTo>
                  <a:pt x="904893" y="904893"/>
                </a:lnTo>
                <a:lnTo>
                  <a:pt x="0" y="9048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249795" y="7658986"/>
            <a:ext cx="855188" cy="982974"/>
          </a:xfrm>
          <a:custGeom>
            <a:avLst/>
            <a:gdLst/>
            <a:ahLst/>
            <a:cxnLst/>
            <a:rect r="r" b="b" t="t" l="l"/>
            <a:pathLst>
              <a:path h="982974" w="855188">
                <a:moveTo>
                  <a:pt x="0" y="0"/>
                </a:moveTo>
                <a:lnTo>
                  <a:pt x="855188" y="0"/>
                </a:lnTo>
                <a:lnTo>
                  <a:pt x="855188" y="982975"/>
                </a:lnTo>
                <a:lnTo>
                  <a:pt x="0" y="9829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751730" y="952500"/>
            <a:ext cx="878453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0F3D24"/>
                </a:solidFill>
                <a:latin typeface="Nunito Sans Expanded Ultra-Bold"/>
                <a:ea typeface="Nunito Sans Expanded Ultra-Bold"/>
                <a:cs typeface="Nunito Sans Expanded Ultra-Bold"/>
                <a:sym typeface="Nunito Sans Expanded Ultra-Bold"/>
              </a:rPr>
              <a:t>Evidence-Based Validation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041087" y="5623612"/>
            <a:ext cx="386059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500" strike="noStrike" u="non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User Interviews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34263" y="5630015"/>
            <a:ext cx="386059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  <a:spcBef>
                <a:spcPct val="0"/>
              </a:spcBef>
            </a:pPr>
            <a:r>
              <a:rPr lang="en-US" b="true" sz="1499" strike="noStrike" u="non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Task Completion Rate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41087" y="7512675"/>
            <a:ext cx="386059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  <a:spcBef>
                <a:spcPct val="0"/>
              </a:spcBef>
            </a:pPr>
            <a:r>
              <a:rPr lang="en-US" b="true" sz="1499" strike="noStrike" u="non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Usefulness Score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34263" y="7512675"/>
            <a:ext cx="386059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  <a:spcBef>
                <a:spcPct val="0"/>
              </a:spcBef>
            </a:pPr>
            <a:r>
              <a:rPr lang="en-US" b="true" sz="1499" strike="noStrike" u="non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Key Iteration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27405" y="2053395"/>
            <a:ext cx="9433191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 strike="noStrike" u="none">
                <a:solidFill>
                  <a:srgbClr val="0F3D2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Discovery Insights &amp; User Research Findings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041087" y="6202777"/>
            <a:ext cx="3262983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15 structured interviews conducted. 100% of participants confirmed delays caused by scattered reporting workarounds.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34263" y="6208019"/>
            <a:ext cx="4118763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80% task completion rate achieved in prototype v1 testing with 20 users (16/20 tasks completed successfully).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041087" y="8084069"/>
            <a:ext cx="3262983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System usefulness rated 4.35/5.0 and user interest scored 3.80/5 across all prototype testers.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34263" y="8084069"/>
            <a:ext cx="3262983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Replaced text status labels with color-coded badges: Pending Review, Available, Claimed, and Closed.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52329" y="2901977"/>
            <a:ext cx="1354253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90909"/>
                </a:solidFill>
                <a:latin typeface="Montserrat"/>
                <a:ea typeface="Montserrat"/>
                <a:cs typeface="Montserrat"/>
                <a:sym typeface="Montserrat"/>
              </a:rPr>
              <a:t>15 structured user interviews with students and staff confirmed that fragmented workarounds cause significant delays in recovering lost items on campus.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499637"/>
            <a:ext cx="18288000" cy="5787363"/>
            <a:chOff x="0" y="0"/>
            <a:chExt cx="4816593" cy="1524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524244"/>
            </a:xfrm>
            <a:custGeom>
              <a:avLst/>
              <a:gdLst/>
              <a:ahLst/>
              <a:cxnLst/>
              <a:rect r="r" b="b" t="t" l="l"/>
              <a:pathLst>
                <a:path h="152424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24244"/>
                  </a:lnTo>
                  <a:lnTo>
                    <a:pt x="0" y="1524244"/>
                  </a:lnTo>
                  <a:close/>
                </a:path>
              </a:pathLst>
            </a:custGeom>
            <a:solidFill>
              <a:srgbClr val="0F3D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571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5091" y="5661712"/>
            <a:ext cx="1218448" cy="1218448"/>
            <a:chOff x="0" y="0"/>
            <a:chExt cx="320908" cy="3209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908" cy="320908"/>
            </a:xfrm>
            <a:custGeom>
              <a:avLst/>
              <a:gdLst/>
              <a:ahLst/>
              <a:cxnLst/>
              <a:rect r="r" b="b" t="t" l="l"/>
              <a:pathLst>
                <a:path h="320908" w="320908">
                  <a:moveTo>
                    <a:pt x="50831" y="0"/>
                  </a:moveTo>
                  <a:lnTo>
                    <a:pt x="270077" y="0"/>
                  </a:lnTo>
                  <a:cubicBezTo>
                    <a:pt x="298150" y="0"/>
                    <a:pt x="320908" y="22758"/>
                    <a:pt x="320908" y="50831"/>
                  </a:cubicBezTo>
                  <a:lnTo>
                    <a:pt x="320908" y="270077"/>
                  </a:lnTo>
                  <a:cubicBezTo>
                    <a:pt x="320908" y="298150"/>
                    <a:pt x="298150" y="320908"/>
                    <a:pt x="270077" y="320908"/>
                  </a:cubicBezTo>
                  <a:lnTo>
                    <a:pt x="50831" y="320908"/>
                  </a:lnTo>
                  <a:cubicBezTo>
                    <a:pt x="22758" y="320908"/>
                    <a:pt x="0" y="298150"/>
                    <a:pt x="0" y="270077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8EFFC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20908" cy="368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68165" y="5661712"/>
            <a:ext cx="1218448" cy="1218448"/>
            <a:chOff x="0" y="0"/>
            <a:chExt cx="320908" cy="3209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908" cy="320908"/>
            </a:xfrm>
            <a:custGeom>
              <a:avLst/>
              <a:gdLst/>
              <a:ahLst/>
              <a:cxnLst/>
              <a:rect r="r" b="b" t="t" l="l"/>
              <a:pathLst>
                <a:path h="320908" w="320908">
                  <a:moveTo>
                    <a:pt x="50831" y="0"/>
                  </a:moveTo>
                  <a:lnTo>
                    <a:pt x="270077" y="0"/>
                  </a:lnTo>
                  <a:cubicBezTo>
                    <a:pt x="298150" y="0"/>
                    <a:pt x="320908" y="22758"/>
                    <a:pt x="320908" y="50831"/>
                  </a:cubicBezTo>
                  <a:lnTo>
                    <a:pt x="320908" y="270077"/>
                  </a:lnTo>
                  <a:cubicBezTo>
                    <a:pt x="320908" y="298150"/>
                    <a:pt x="298150" y="320908"/>
                    <a:pt x="270077" y="320908"/>
                  </a:cubicBezTo>
                  <a:lnTo>
                    <a:pt x="50831" y="320908"/>
                  </a:lnTo>
                  <a:cubicBezTo>
                    <a:pt x="22758" y="320908"/>
                    <a:pt x="0" y="298150"/>
                    <a:pt x="0" y="270077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8EFFC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20908" cy="368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575091" y="7541250"/>
            <a:ext cx="1218448" cy="1218448"/>
            <a:chOff x="0" y="0"/>
            <a:chExt cx="320908" cy="3209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0908" cy="320908"/>
            </a:xfrm>
            <a:custGeom>
              <a:avLst/>
              <a:gdLst/>
              <a:ahLst/>
              <a:cxnLst/>
              <a:rect r="r" b="b" t="t" l="l"/>
              <a:pathLst>
                <a:path h="320908" w="320908">
                  <a:moveTo>
                    <a:pt x="50831" y="0"/>
                  </a:moveTo>
                  <a:lnTo>
                    <a:pt x="270077" y="0"/>
                  </a:lnTo>
                  <a:cubicBezTo>
                    <a:pt x="298150" y="0"/>
                    <a:pt x="320908" y="22758"/>
                    <a:pt x="320908" y="50831"/>
                  </a:cubicBezTo>
                  <a:lnTo>
                    <a:pt x="320908" y="270077"/>
                  </a:lnTo>
                  <a:cubicBezTo>
                    <a:pt x="320908" y="298150"/>
                    <a:pt x="298150" y="320908"/>
                    <a:pt x="270077" y="320908"/>
                  </a:cubicBezTo>
                  <a:lnTo>
                    <a:pt x="50831" y="320908"/>
                  </a:lnTo>
                  <a:cubicBezTo>
                    <a:pt x="22758" y="320908"/>
                    <a:pt x="0" y="298150"/>
                    <a:pt x="0" y="270077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8EFFC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20908" cy="368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068165" y="7541250"/>
            <a:ext cx="1218448" cy="1218448"/>
            <a:chOff x="0" y="0"/>
            <a:chExt cx="320908" cy="3209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0908" cy="320908"/>
            </a:xfrm>
            <a:custGeom>
              <a:avLst/>
              <a:gdLst/>
              <a:ahLst/>
              <a:cxnLst/>
              <a:rect r="r" b="b" t="t" l="l"/>
              <a:pathLst>
                <a:path h="320908" w="320908">
                  <a:moveTo>
                    <a:pt x="50831" y="0"/>
                  </a:moveTo>
                  <a:lnTo>
                    <a:pt x="270077" y="0"/>
                  </a:lnTo>
                  <a:cubicBezTo>
                    <a:pt x="298150" y="0"/>
                    <a:pt x="320908" y="22758"/>
                    <a:pt x="320908" y="50831"/>
                  </a:cubicBezTo>
                  <a:lnTo>
                    <a:pt x="320908" y="270077"/>
                  </a:lnTo>
                  <a:cubicBezTo>
                    <a:pt x="320908" y="298150"/>
                    <a:pt x="298150" y="320908"/>
                    <a:pt x="270077" y="320908"/>
                  </a:cubicBezTo>
                  <a:lnTo>
                    <a:pt x="50831" y="320908"/>
                  </a:lnTo>
                  <a:cubicBezTo>
                    <a:pt x="22758" y="320908"/>
                    <a:pt x="0" y="298150"/>
                    <a:pt x="0" y="270077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8EFFC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20908" cy="368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821207" y="5988616"/>
            <a:ext cx="740158" cy="549684"/>
          </a:xfrm>
          <a:custGeom>
            <a:avLst/>
            <a:gdLst/>
            <a:ahLst/>
            <a:cxnLst/>
            <a:rect r="r" b="b" t="t" l="l"/>
            <a:pathLst>
              <a:path h="549684" w="740158">
                <a:moveTo>
                  <a:pt x="0" y="0"/>
                </a:moveTo>
                <a:lnTo>
                  <a:pt x="740158" y="0"/>
                </a:lnTo>
                <a:lnTo>
                  <a:pt x="740158" y="549684"/>
                </a:lnTo>
                <a:lnTo>
                  <a:pt x="0" y="5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933849" y="7852833"/>
            <a:ext cx="500066" cy="640045"/>
          </a:xfrm>
          <a:custGeom>
            <a:avLst/>
            <a:gdLst/>
            <a:ahLst/>
            <a:cxnLst/>
            <a:rect r="r" b="b" t="t" l="l"/>
            <a:pathLst>
              <a:path h="640045" w="500066">
                <a:moveTo>
                  <a:pt x="0" y="0"/>
                </a:moveTo>
                <a:lnTo>
                  <a:pt x="500066" y="0"/>
                </a:lnTo>
                <a:lnTo>
                  <a:pt x="500066" y="640046"/>
                </a:lnTo>
                <a:lnTo>
                  <a:pt x="0" y="6400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420990" y="5894643"/>
            <a:ext cx="516995" cy="720279"/>
          </a:xfrm>
          <a:custGeom>
            <a:avLst/>
            <a:gdLst/>
            <a:ahLst/>
            <a:cxnLst/>
            <a:rect r="r" b="b" t="t" l="l"/>
            <a:pathLst>
              <a:path h="720279" w="516995">
                <a:moveTo>
                  <a:pt x="0" y="0"/>
                </a:moveTo>
                <a:lnTo>
                  <a:pt x="516995" y="0"/>
                </a:lnTo>
                <a:lnTo>
                  <a:pt x="516995" y="720279"/>
                </a:lnTo>
                <a:lnTo>
                  <a:pt x="0" y="720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473812" y="7934963"/>
            <a:ext cx="525267" cy="408257"/>
          </a:xfrm>
          <a:custGeom>
            <a:avLst/>
            <a:gdLst/>
            <a:ahLst/>
            <a:cxnLst/>
            <a:rect r="r" b="b" t="t" l="l"/>
            <a:pathLst>
              <a:path h="408257" w="525267">
                <a:moveTo>
                  <a:pt x="0" y="0"/>
                </a:moveTo>
                <a:lnTo>
                  <a:pt x="525267" y="0"/>
                </a:lnTo>
                <a:lnTo>
                  <a:pt x="525267" y="408256"/>
                </a:lnTo>
                <a:lnTo>
                  <a:pt x="0" y="4082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076056" y="952500"/>
            <a:ext cx="8135888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0F3D24"/>
                </a:solidFill>
                <a:latin typeface="Nunito Sans Expanded Ultra-Bold"/>
                <a:ea typeface="Nunito Sans Expanded Ultra-Bold"/>
                <a:cs typeface="Nunito Sans Expanded Ultra-Bold"/>
                <a:sym typeface="Nunito Sans Expanded Ultra-Bold"/>
              </a:rPr>
              <a:t>Lemon — Our Solution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041087" y="5633137"/>
            <a:ext cx="386059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Centralized Discovery Engine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34263" y="5630015"/>
            <a:ext cx="386059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trike="noStrike" u="non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Privacy-First Protection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041087" y="7512675"/>
            <a:ext cx="386059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trike="noStrike" u="non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Streamlined Admin Workflow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34263" y="7512675"/>
            <a:ext cx="386059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trike="noStrike" u="non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Zero-Hardware Deployment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27405" y="1772434"/>
            <a:ext cx="943319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F3D2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Centralized, Privacy-First Lost-and-Found Platform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41087" y="6202777"/>
            <a:ext cx="3262983" cy="45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6"/>
              </a:lnSpc>
              <a:spcBef>
                <a:spcPct val="0"/>
              </a:spcBef>
            </a:pPr>
            <a:r>
              <a:rPr lang="en-US" sz="1297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Single searchable database with multi-criteria filters for fast item recovery.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34263" y="6208019"/>
            <a:ext cx="4118763" cy="440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6"/>
              </a:lnSpc>
              <a:spcBef>
                <a:spcPct val="0"/>
              </a:spcBef>
            </a:pPr>
            <a:r>
              <a:rPr lang="en-US" sz="1297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Masked Student IDs and emails protect user identity at all times.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041087" y="8084069"/>
            <a:ext cx="3262983" cy="66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6"/>
              </a:lnSpc>
              <a:spcBef>
                <a:spcPct val="0"/>
              </a:spcBef>
            </a:pPr>
            <a:r>
              <a:rPr lang="en-US" sz="1297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Color-coded status badges (Pending, Available, Claimed, Closed) streamline staff case tracking.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34263" y="8084069"/>
            <a:ext cx="3262983" cy="66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6"/>
              </a:lnSpc>
              <a:spcBef>
                <a:spcPct val="0"/>
              </a:spcBef>
            </a:pPr>
            <a:r>
              <a:rPr lang="en-US" sz="1297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Fully functional on any mobile or desktop browser — no sensors or special hardware needed.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372734" y="2901906"/>
            <a:ext cx="13542532" cy="540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6"/>
              </a:lnSpc>
              <a:spcBef>
                <a:spcPct val="0"/>
              </a:spcBef>
            </a:pPr>
            <a:r>
              <a:rPr lang="en-US" sz="1597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Lemon replaces fragmented chat groups and manual logs with a single, secure, browser-based system — no hardware required, fully accessible on mobile and desktop.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875450"/>
            <a:ext cx="18288000" cy="5938175"/>
            <a:chOff x="0" y="0"/>
            <a:chExt cx="4816593" cy="1563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563964"/>
            </a:xfrm>
            <a:custGeom>
              <a:avLst/>
              <a:gdLst/>
              <a:ahLst/>
              <a:cxnLst/>
              <a:rect r="r" b="b" t="t" l="l"/>
              <a:pathLst>
                <a:path h="156396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63964"/>
                  </a:lnTo>
                  <a:lnTo>
                    <a:pt x="0" y="1563964"/>
                  </a:lnTo>
                  <a:close/>
                </a:path>
              </a:pathLst>
            </a:custGeom>
            <a:solidFill>
              <a:srgbClr val="0F3D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611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00167" y="4413044"/>
            <a:ext cx="3883499" cy="3781260"/>
            <a:chOff x="0" y="0"/>
            <a:chExt cx="1022815" cy="9958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2815" cy="995887"/>
            </a:xfrm>
            <a:custGeom>
              <a:avLst/>
              <a:gdLst/>
              <a:ahLst/>
              <a:cxnLst/>
              <a:rect r="r" b="b" t="t" l="l"/>
              <a:pathLst>
                <a:path h="995887" w="1022815">
                  <a:moveTo>
                    <a:pt x="15948" y="0"/>
                  </a:moveTo>
                  <a:lnTo>
                    <a:pt x="1006866" y="0"/>
                  </a:lnTo>
                  <a:cubicBezTo>
                    <a:pt x="1011096" y="0"/>
                    <a:pt x="1015153" y="1680"/>
                    <a:pt x="1018144" y="4671"/>
                  </a:cubicBezTo>
                  <a:cubicBezTo>
                    <a:pt x="1021134" y="7662"/>
                    <a:pt x="1022815" y="11719"/>
                    <a:pt x="1022815" y="15948"/>
                  </a:cubicBezTo>
                  <a:lnTo>
                    <a:pt x="1022815" y="979939"/>
                  </a:lnTo>
                  <a:cubicBezTo>
                    <a:pt x="1022815" y="984169"/>
                    <a:pt x="1021134" y="988225"/>
                    <a:pt x="1018144" y="991216"/>
                  </a:cubicBezTo>
                  <a:cubicBezTo>
                    <a:pt x="1015153" y="994207"/>
                    <a:pt x="1011096" y="995887"/>
                    <a:pt x="1006866" y="995887"/>
                  </a:cubicBezTo>
                  <a:lnTo>
                    <a:pt x="15948" y="995887"/>
                  </a:lnTo>
                  <a:cubicBezTo>
                    <a:pt x="11719" y="995887"/>
                    <a:pt x="7662" y="994207"/>
                    <a:pt x="4671" y="991216"/>
                  </a:cubicBezTo>
                  <a:cubicBezTo>
                    <a:pt x="1680" y="988225"/>
                    <a:pt x="0" y="984169"/>
                    <a:pt x="0" y="979939"/>
                  </a:cubicBezTo>
                  <a:lnTo>
                    <a:pt x="0" y="15948"/>
                  </a:lnTo>
                  <a:cubicBezTo>
                    <a:pt x="0" y="11719"/>
                    <a:pt x="1680" y="7662"/>
                    <a:pt x="4671" y="4671"/>
                  </a:cubicBezTo>
                  <a:cubicBezTo>
                    <a:pt x="7662" y="1680"/>
                    <a:pt x="11719" y="0"/>
                    <a:pt x="15948" y="0"/>
                  </a:cubicBezTo>
                  <a:close/>
                </a:path>
              </a:pathLst>
            </a:custGeom>
            <a:solidFill>
              <a:srgbClr val="D4FFD4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022815" cy="1043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01709" y="4413044"/>
            <a:ext cx="3883499" cy="3781260"/>
            <a:chOff x="0" y="0"/>
            <a:chExt cx="1022815" cy="9958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2815" cy="995887"/>
            </a:xfrm>
            <a:custGeom>
              <a:avLst/>
              <a:gdLst/>
              <a:ahLst/>
              <a:cxnLst/>
              <a:rect r="r" b="b" t="t" l="l"/>
              <a:pathLst>
                <a:path h="995887" w="1022815">
                  <a:moveTo>
                    <a:pt x="15948" y="0"/>
                  </a:moveTo>
                  <a:lnTo>
                    <a:pt x="1006866" y="0"/>
                  </a:lnTo>
                  <a:cubicBezTo>
                    <a:pt x="1011096" y="0"/>
                    <a:pt x="1015153" y="1680"/>
                    <a:pt x="1018144" y="4671"/>
                  </a:cubicBezTo>
                  <a:cubicBezTo>
                    <a:pt x="1021134" y="7662"/>
                    <a:pt x="1022815" y="11719"/>
                    <a:pt x="1022815" y="15948"/>
                  </a:cubicBezTo>
                  <a:lnTo>
                    <a:pt x="1022815" y="979939"/>
                  </a:lnTo>
                  <a:cubicBezTo>
                    <a:pt x="1022815" y="984169"/>
                    <a:pt x="1021134" y="988225"/>
                    <a:pt x="1018144" y="991216"/>
                  </a:cubicBezTo>
                  <a:cubicBezTo>
                    <a:pt x="1015153" y="994207"/>
                    <a:pt x="1011096" y="995887"/>
                    <a:pt x="1006866" y="995887"/>
                  </a:cubicBezTo>
                  <a:lnTo>
                    <a:pt x="15948" y="995887"/>
                  </a:lnTo>
                  <a:cubicBezTo>
                    <a:pt x="11719" y="995887"/>
                    <a:pt x="7662" y="994207"/>
                    <a:pt x="4671" y="991216"/>
                  </a:cubicBezTo>
                  <a:cubicBezTo>
                    <a:pt x="1680" y="988225"/>
                    <a:pt x="0" y="984169"/>
                    <a:pt x="0" y="979939"/>
                  </a:cubicBezTo>
                  <a:lnTo>
                    <a:pt x="0" y="15948"/>
                  </a:lnTo>
                  <a:cubicBezTo>
                    <a:pt x="0" y="11719"/>
                    <a:pt x="1680" y="7662"/>
                    <a:pt x="4671" y="4671"/>
                  </a:cubicBezTo>
                  <a:cubicBezTo>
                    <a:pt x="7662" y="1680"/>
                    <a:pt x="11719" y="0"/>
                    <a:pt x="15948" y="0"/>
                  </a:cubicBezTo>
                  <a:close/>
                </a:path>
              </a:pathLst>
            </a:custGeom>
            <a:solidFill>
              <a:srgbClr val="D4FFD4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22815" cy="1043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704334" y="4413044"/>
            <a:ext cx="3883499" cy="3781260"/>
            <a:chOff x="0" y="0"/>
            <a:chExt cx="1022815" cy="9958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2815" cy="995887"/>
            </a:xfrm>
            <a:custGeom>
              <a:avLst/>
              <a:gdLst/>
              <a:ahLst/>
              <a:cxnLst/>
              <a:rect r="r" b="b" t="t" l="l"/>
              <a:pathLst>
                <a:path h="995887" w="1022815">
                  <a:moveTo>
                    <a:pt x="15948" y="0"/>
                  </a:moveTo>
                  <a:lnTo>
                    <a:pt x="1006866" y="0"/>
                  </a:lnTo>
                  <a:cubicBezTo>
                    <a:pt x="1011096" y="0"/>
                    <a:pt x="1015153" y="1680"/>
                    <a:pt x="1018144" y="4671"/>
                  </a:cubicBezTo>
                  <a:cubicBezTo>
                    <a:pt x="1021134" y="7662"/>
                    <a:pt x="1022815" y="11719"/>
                    <a:pt x="1022815" y="15948"/>
                  </a:cubicBezTo>
                  <a:lnTo>
                    <a:pt x="1022815" y="979939"/>
                  </a:lnTo>
                  <a:cubicBezTo>
                    <a:pt x="1022815" y="984169"/>
                    <a:pt x="1021134" y="988225"/>
                    <a:pt x="1018144" y="991216"/>
                  </a:cubicBezTo>
                  <a:cubicBezTo>
                    <a:pt x="1015153" y="994207"/>
                    <a:pt x="1011096" y="995887"/>
                    <a:pt x="1006866" y="995887"/>
                  </a:cubicBezTo>
                  <a:lnTo>
                    <a:pt x="15948" y="995887"/>
                  </a:lnTo>
                  <a:cubicBezTo>
                    <a:pt x="11719" y="995887"/>
                    <a:pt x="7662" y="994207"/>
                    <a:pt x="4671" y="991216"/>
                  </a:cubicBezTo>
                  <a:cubicBezTo>
                    <a:pt x="1680" y="988225"/>
                    <a:pt x="0" y="984169"/>
                    <a:pt x="0" y="979939"/>
                  </a:cubicBezTo>
                  <a:lnTo>
                    <a:pt x="0" y="15948"/>
                  </a:lnTo>
                  <a:cubicBezTo>
                    <a:pt x="0" y="11719"/>
                    <a:pt x="1680" y="7662"/>
                    <a:pt x="4671" y="4671"/>
                  </a:cubicBezTo>
                  <a:cubicBezTo>
                    <a:pt x="7662" y="1680"/>
                    <a:pt x="11719" y="0"/>
                    <a:pt x="15948" y="0"/>
                  </a:cubicBezTo>
                  <a:close/>
                </a:path>
              </a:pathLst>
            </a:custGeom>
            <a:solidFill>
              <a:srgbClr val="D4FFD4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22815" cy="1043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063486" y="952500"/>
            <a:ext cx="12161028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0F3D24"/>
                </a:solidFill>
                <a:latin typeface="Nunito Sans Expanded Ultra-Bold"/>
                <a:ea typeface="Nunito Sans Expanded Ultra-Bold"/>
                <a:cs typeface="Nunito Sans Expanded Ultra-Bold"/>
                <a:sym typeface="Nunito Sans Expanded Ultra-Bold"/>
              </a:rPr>
              <a:t>Live Prototype Demonstration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97889" y="1907832"/>
            <a:ext cx="102911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F3D2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5-Step User Journey Walkthrough — Lemon System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86331" y="2688882"/>
            <a:ext cx="10715339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Each step guides users from discovery to claim resolution through a seamless, privacy-protected web interface accessible on mobile and desktop browsers.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74122" y="5705587"/>
            <a:ext cx="293558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58672" y="5406502"/>
            <a:ext cx="2935589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Landing Gateway</a:t>
            </a:r>
          </a:p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(index.html)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74122" y="6131352"/>
            <a:ext cx="293558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75665" y="5937042"/>
            <a:ext cx="2935589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Report Filing</a:t>
            </a:r>
          </a:p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(form.html)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98637" y="4666441"/>
            <a:ext cx="168656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F3D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92657" y="4666441"/>
            <a:ext cx="3101604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F3D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/ Module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74122" y="6557116"/>
            <a:ext cx="293558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75665" y="6523451"/>
            <a:ext cx="2935589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Search &amp; Catalog</a:t>
            </a:r>
          </a:p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(records.html)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74122" y="6982881"/>
            <a:ext cx="293558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76206" y="7072416"/>
            <a:ext cx="2935589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Item Detail &amp; Claim</a:t>
            </a:r>
          </a:p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(detail.html)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78289" y="5705587"/>
            <a:ext cx="293558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Hero search bar + CTAs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78289" y="6131352"/>
            <a:ext cx="293558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Validated submission form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098738" y="4666441"/>
            <a:ext cx="1094691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F3D2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Function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78289" y="6557116"/>
            <a:ext cx="293558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Filters + status badges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78289" y="6982881"/>
            <a:ext cx="293558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Masked contact + claim</a:t>
            </a:r>
          </a:p>
        </p:txBody>
      </p:sp>
      <p:sp>
        <p:nvSpPr>
          <p:cNvPr name="AutoShape 32" id="32"/>
          <p:cNvSpPr/>
          <p:nvPr/>
        </p:nvSpPr>
        <p:spPr>
          <a:xfrm>
            <a:off x="3063486" y="5270590"/>
            <a:ext cx="322460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7531699" y="5289640"/>
            <a:ext cx="322460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11999911" y="5308690"/>
            <a:ext cx="322460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3170745" y="7371501"/>
            <a:ext cx="293558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676206" y="7550571"/>
            <a:ext cx="2943225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 &amp; Analytics</a:t>
            </a:r>
          </a:p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(admin.html &amp; dashboard.html)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82475" y="7362825"/>
            <a:ext cx="2943225" cy="41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22"/>
              </a:lnSpc>
              <a:spcBef>
                <a:spcPct val="0"/>
              </a:spcBef>
            </a:pPr>
            <a:r>
              <a:rPr lang="en-US" b="true" sz="1230" strike="noStrike" u="none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Staff console: review claims,</a:t>
            </a:r>
          </a:p>
          <a:p>
            <a:pPr algn="ctr" marL="0" indent="0" lvl="0">
              <a:lnSpc>
                <a:spcPts val="1722"/>
              </a:lnSpc>
              <a:spcBef>
                <a:spcPct val="0"/>
              </a:spcBef>
            </a:pPr>
            <a:r>
              <a:rPr lang="en-US" b="true" sz="1230" strike="noStrike" u="none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update status, view metrics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78305" y="952500"/>
            <a:ext cx="11179608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0F3D24"/>
                </a:solidFill>
                <a:latin typeface="Nunito Sans Expanded Ultra-Bold"/>
                <a:ea typeface="Nunito Sans Expanded Ultra-Bold"/>
                <a:cs typeface="Nunito Sans Expanded Ultra-Bold"/>
                <a:sym typeface="Nunito Sans Expanded Ultra-Bold"/>
              </a:rPr>
              <a:t>Business Model Canvas &amp; Operational Logic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4766018"/>
            <a:ext cx="18288000" cy="5529818"/>
            <a:chOff x="0" y="0"/>
            <a:chExt cx="4816593" cy="14564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456413"/>
            </a:xfrm>
            <a:custGeom>
              <a:avLst/>
              <a:gdLst/>
              <a:ahLst/>
              <a:cxnLst/>
              <a:rect r="r" b="b" t="t" l="l"/>
              <a:pathLst>
                <a:path h="14564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456413"/>
                  </a:lnTo>
                  <a:lnTo>
                    <a:pt x="0" y="1456413"/>
                  </a:lnTo>
                  <a:close/>
                </a:path>
              </a:pathLst>
            </a:custGeom>
            <a:solidFill>
              <a:srgbClr val="0F3D2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1504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778305" y="4881054"/>
            <a:ext cx="9765470" cy="3870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Value Prop</a:t>
            </a:r>
            <a:r>
              <a:rPr lang="en-US" sz="1800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: Centralized, privacy-first lost-and-found management.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343"/>
              </a:lnSpc>
              <a:spcBef>
                <a:spcPct val="0"/>
              </a:spcBef>
            </a:pPr>
            <a:r>
              <a:rPr lang="en-US" b="true" sz="16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Segments</a:t>
            </a:r>
            <a:r>
              <a:rPr lang="en-US" sz="16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      : Students (finders &amp; losers) + campus security &amp; staff.</a:t>
            </a:r>
          </a:p>
          <a:p>
            <a:pPr algn="l" marL="0" indent="0" lvl="0">
              <a:lnSpc>
                <a:spcPts val="2343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343"/>
              </a:lnSpc>
              <a:spcBef>
                <a:spcPct val="0"/>
              </a:spcBef>
            </a:pPr>
            <a:r>
              <a:rPr lang="en-US" b="true" sz="16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Channels</a:t>
            </a:r>
            <a:r>
              <a:rPr lang="en-US" sz="16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 : Web browser, university portal, QR codes, LINE/Discord.</a:t>
            </a:r>
          </a:p>
          <a:p>
            <a:pPr algn="l" marL="0" indent="0" lvl="0">
              <a:lnSpc>
                <a:spcPts val="2343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343"/>
              </a:lnSpc>
              <a:spcBef>
                <a:spcPct val="0"/>
              </a:spcBef>
            </a:pPr>
            <a:r>
              <a:rPr lang="en-US" b="true" sz="16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Activities</a:t>
            </a:r>
            <a:r>
              <a:rPr lang="en-US" sz="16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 : Portal maintenance, claim verification, UX refinement.</a:t>
            </a:r>
          </a:p>
          <a:p>
            <a:pPr algn="l" marL="0" indent="0" lvl="0">
              <a:lnSpc>
                <a:spcPts val="2343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343"/>
              </a:lnSpc>
              <a:spcBef>
                <a:spcPct val="0"/>
              </a:spcBef>
            </a:pPr>
            <a:r>
              <a:rPr lang="en-US" b="true" sz="16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Resources</a:t>
            </a:r>
            <a:r>
              <a:rPr lang="en-US" sz="16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: Dev team, web stack, JSON storage, GitHub, university server.</a:t>
            </a:r>
          </a:p>
          <a:p>
            <a:pPr algn="l" marL="0" indent="0" lvl="0">
              <a:lnSpc>
                <a:spcPts val="2343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343"/>
              </a:lnSpc>
              <a:spcBef>
                <a:spcPct val="0"/>
              </a:spcBef>
            </a:pPr>
            <a:r>
              <a:rPr lang="en-US" b="true" sz="16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Partners</a:t>
            </a:r>
            <a:r>
              <a:rPr lang="en-US" sz="16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  : University admin, security office, student affairs, student body.</a:t>
            </a:r>
          </a:p>
          <a:p>
            <a:pPr algn="l" marL="0" indent="0" lvl="0">
              <a:lnSpc>
                <a:spcPts val="2343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343"/>
              </a:lnSpc>
              <a:spcBef>
                <a:spcPct val="0"/>
              </a:spcBef>
            </a:pPr>
            <a:r>
              <a:rPr lang="en-US" b="true" sz="16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Sustainability</a:t>
            </a:r>
            <a:r>
              <a:rPr lang="en-US" sz="16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Non-commercial — ROI via reduced admin labor &amp; lost property waste.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39307" y="1406182"/>
            <a:ext cx="5749605" cy="7474636"/>
            <a:chOff x="0" y="0"/>
            <a:chExt cx="1195192" cy="15537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95192" cy="1553781"/>
            </a:xfrm>
            <a:custGeom>
              <a:avLst/>
              <a:gdLst/>
              <a:ahLst/>
              <a:cxnLst/>
              <a:rect r="r" b="b" t="t" l="l"/>
              <a:pathLst>
                <a:path h="1553781" w="1195192">
                  <a:moveTo>
                    <a:pt x="20198" y="0"/>
                  </a:moveTo>
                  <a:lnTo>
                    <a:pt x="1174994" y="0"/>
                  </a:lnTo>
                  <a:cubicBezTo>
                    <a:pt x="1180351" y="0"/>
                    <a:pt x="1185488" y="2128"/>
                    <a:pt x="1189276" y="5916"/>
                  </a:cubicBezTo>
                  <a:cubicBezTo>
                    <a:pt x="1193064" y="9704"/>
                    <a:pt x="1195192" y="14841"/>
                    <a:pt x="1195192" y="20198"/>
                  </a:cubicBezTo>
                  <a:lnTo>
                    <a:pt x="1195192" y="1533583"/>
                  </a:lnTo>
                  <a:cubicBezTo>
                    <a:pt x="1195192" y="1538940"/>
                    <a:pt x="1193064" y="1544077"/>
                    <a:pt x="1189276" y="1547865"/>
                  </a:cubicBezTo>
                  <a:cubicBezTo>
                    <a:pt x="1185488" y="1551653"/>
                    <a:pt x="1180351" y="1553781"/>
                    <a:pt x="1174994" y="1553781"/>
                  </a:cubicBezTo>
                  <a:lnTo>
                    <a:pt x="20198" y="1553781"/>
                  </a:lnTo>
                  <a:cubicBezTo>
                    <a:pt x="14841" y="1553781"/>
                    <a:pt x="9704" y="1551653"/>
                    <a:pt x="5916" y="1547865"/>
                  </a:cubicBezTo>
                  <a:cubicBezTo>
                    <a:pt x="2128" y="1544077"/>
                    <a:pt x="0" y="1538940"/>
                    <a:pt x="0" y="1533583"/>
                  </a:cubicBezTo>
                  <a:lnTo>
                    <a:pt x="0" y="20198"/>
                  </a:lnTo>
                  <a:cubicBezTo>
                    <a:pt x="0" y="14841"/>
                    <a:pt x="2128" y="9704"/>
                    <a:pt x="5916" y="5916"/>
                  </a:cubicBezTo>
                  <a:cubicBezTo>
                    <a:pt x="9704" y="2128"/>
                    <a:pt x="14841" y="0"/>
                    <a:pt x="20198" y="0"/>
                  </a:cubicBezTo>
                  <a:close/>
                </a:path>
              </a:pathLst>
            </a:custGeom>
            <a:blipFill>
              <a:blip r:embed="rId2"/>
              <a:stretch>
                <a:fillRect l="-32" t="0" r="-32" b="0"/>
              </a:stretch>
            </a:blipFill>
            <a:ln w="114300" cap="sq">
              <a:gradFill>
                <a:gsLst>
                  <a:gs pos="0">
                    <a:srgbClr val="58C2FF">
                      <a:alpha val="100000"/>
                    </a:srgbClr>
                  </a:gs>
                  <a:gs pos="100000">
                    <a:srgbClr val="3BBF27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778305" y="2609780"/>
            <a:ext cx="5097932" cy="1945543"/>
            <a:chOff x="0" y="0"/>
            <a:chExt cx="1342665" cy="5124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2665" cy="512406"/>
            </a:xfrm>
            <a:custGeom>
              <a:avLst/>
              <a:gdLst/>
              <a:ahLst/>
              <a:cxnLst/>
              <a:rect r="r" b="b" t="t" l="l"/>
              <a:pathLst>
                <a:path h="512406" w="1342665">
                  <a:moveTo>
                    <a:pt x="0" y="0"/>
                  </a:moveTo>
                  <a:lnTo>
                    <a:pt x="1342665" y="0"/>
                  </a:lnTo>
                  <a:lnTo>
                    <a:pt x="1342665" y="512406"/>
                  </a:lnTo>
                  <a:lnTo>
                    <a:pt x="0" y="512406"/>
                  </a:lnTo>
                  <a:close/>
                </a:path>
              </a:pathLst>
            </a:custGeom>
            <a:solidFill>
              <a:srgbClr val="8EFFC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42665" cy="560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088516" y="3044300"/>
            <a:ext cx="4477511" cy="102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 strike="noStrike" u="none">
                <a:solidFill>
                  <a:srgbClr val="0F3D2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How Lemon Creates &amp; Delivers Value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499637"/>
            <a:ext cx="18288000" cy="5787363"/>
            <a:chOff x="0" y="0"/>
            <a:chExt cx="4816593" cy="1524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524244"/>
            </a:xfrm>
            <a:custGeom>
              <a:avLst/>
              <a:gdLst/>
              <a:ahLst/>
              <a:cxnLst/>
              <a:rect r="r" b="b" t="t" l="l"/>
              <a:pathLst>
                <a:path h="152424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24244"/>
                  </a:lnTo>
                  <a:lnTo>
                    <a:pt x="0" y="1524244"/>
                  </a:lnTo>
                  <a:close/>
                </a:path>
              </a:pathLst>
            </a:custGeom>
            <a:solidFill>
              <a:srgbClr val="0F3D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571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5091" y="5661712"/>
            <a:ext cx="1218448" cy="1218448"/>
            <a:chOff x="0" y="0"/>
            <a:chExt cx="320908" cy="3209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908" cy="320908"/>
            </a:xfrm>
            <a:custGeom>
              <a:avLst/>
              <a:gdLst/>
              <a:ahLst/>
              <a:cxnLst/>
              <a:rect r="r" b="b" t="t" l="l"/>
              <a:pathLst>
                <a:path h="320908" w="320908">
                  <a:moveTo>
                    <a:pt x="50831" y="0"/>
                  </a:moveTo>
                  <a:lnTo>
                    <a:pt x="270077" y="0"/>
                  </a:lnTo>
                  <a:cubicBezTo>
                    <a:pt x="298150" y="0"/>
                    <a:pt x="320908" y="22758"/>
                    <a:pt x="320908" y="50831"/>
                  </a:cubicBezTo>
                  <a:lnTo>
                    <a:pt x="320908" y="270077"/>
                  </a:lnTo>
                  <a:cubicBezTo>
                    <a:pt x="320908" y="298150"/>
                    <a:pt x="298150" y="320908"/>
                    <a:pt x="270077" y="320908"/>
                  </a:cubicBezTo>
                  <a:lnTo>
                    <a:pt x="50831" y="320908"/>
                  </a:lnTo>
                  <a:cubicBezTo>
                    <a:pt x="22758" y="320908"/>
                    <a:pt x="0" y="298150"/>
                    <a:pt x="0" y="270077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75FFB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20908" cy="368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68165" y="5661712"/>
            <a:ext cx="1218448" cy="1218448"/>
            <a:chOff x="0" y="0"/>
            <a:chExt cx="320908" cy="3209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908" cy="320908"/>
            </a:xfrm>
            <a:custGeom>
              <a:avLst/>
              <a:gdLst/>
              <a:ahLst/>
              <a:cxnLst/>
              <a:rect r="r" b="b" t="t" l="l"/>
              <a:pathLst>
                <a:path h="320908" w="320908">
                  <a:moveTo>
                    <a:pt x="50831" y="0"/>
                  </a:moveTo>
                  <a:lnTo>
                    <a:pt x="270077" y="0"/>
                  </a:lnTo>
                  <a:cubicBezTo>
                    <a:pt x="298150" y="0"/>
                    <a:pt x="320908" y="22758"/>
                    <a:pt x="320908" y="50831"/>
                  </a:cubicBezTo>
                  <a:lnTo>
                    <a:pt x="320908" y="270077"/>
                  </a:lnTo>
                  <a:cubicBezTo>
                    <a:pt x="320908" y="298150"/>
                    <a:pt x="298150" y="320908"/>
                    <a:pt x="270077" y="320908"/>
                  </a:cubicBezTo>
                  <a:lnTo>
                    <a:pt x="50831" y="320908"/>
                  </a:lnTo>
                  <a:cubicBezTo>
                    <a:pt x="22758" y="320908"/>
                    <a:pt x="0" y="298150"/>
                    <a:pt x="0" y="270077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75FFB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20908" cy="368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575091" y="7541250"/>
            <a:ext cx="1218448" cy="1218448"/>
            <a:chOff x="0" y="0"/>
            <a:chExt cx="320908" cy="3209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0908" cy="320908"/>
            </a:xfrm>
            <a:custGeom>
              <a:avLst/>
              <a:gdLst/>
              <a:ahLst/>
              <a:cxnLst/>
              <a:rect r="r" b="b" t="t" l="l"/>
              <a:pathLst>
                <a:path h="320908" w="320908">
                  <a:moveTo>
                    <a:pt x="50831" y="0"/>
                  </a:moveTo>
                  <a:lnTo>
                    <a:pt x="270077" y="0"/>
                  </a:lnTo>
                  <a:cubicBezTo>
                    <a:pt x="298150" y="0"/>
                    <a:pt x="320908" y="22758"/>
                    <a:pt x="320908" y="50831"/>
                  </a:cubicBezTo>
                  <a:lnTo>
                    <a:pt x="320908" y="270077"/>
                  </a:lnTo>
                  <a:cubicBezTo>
                    <a:pt x="320908" y="298150"/>
                    <a:pt x="298150" y="320908"/>
                    <a:pt x="270077" y="320908"/>
                  </a:cubicBezTo>
                  <a:lnTo>
                    <a:pt x="50831" y="320908"/>
                  </a:lnTo>
                  <a:cubicBezTo>
                    <a:pt x="22758" y="320908"/>
                    <a:pt x="0" y="298150"/>
                    <a:pt x="0" y="270077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75FFB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20908" cy="368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068165" y="7541250"/>
            <a:ext cx="1218448" cy="1218448"/>
            <a:chOff x="0" y="0"/>
            <a:chExt cx="320908" cy="3209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0908" cy="320908"/>
            </a:xfrm>
            <a:custGeom>
              <a:avLst/>
              <a:gdLst/>
              <a:ahLst/>
              <a:cxnLst/>
              <a:rect r="r" b="b" t="t" l="l"/>
              <a:pathLst>
                <a:path h="320908" w="320908">
                  <a:moveTo>
                    <a:pt x="50831" y="0"/>
                  </a:moveTo>
                  <a:lnTo>
                    <a:pt x="270077" y="0"/>
                  </a:lnTo>
                  <a:cubicBezTo>
                    <a:pt x="298150" y="0"/>
                    <a:pt x="320908" y="22758"/>
                    <a:pt x="320908" y="50831"/>
                  </a:cubicBezTo>
                  <a:lnTo>
                    <a:pt x="320908" y="270077"/>
                  </a:lnTo>
                  <a:cubicBezTo>
                    <a:pt x="320908" y="298150"/>
                    <a:pt x="298150" y="320908"/>
                    <a:pt x="270077" y="320908"/>
                  </a:cubicBezTo>
                  <a:lnTo>
                    <a:pt x="50831" y="320908"/>
                  </a:lnTo>
                  <a:cubicBezTo>
                    <a:pt x="22758" y="320908"/>
                    <a:pt x="0" y="298150"/>
                    <a:pt x="0" y="270077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75FFB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20908" cy="368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760873" y="7758790"/>
            <a:ext cx="846883" cy="783367"/>
          </a:xfrm>
          <a:custGeom>
            <a:avLst/>
            <a:gdLst/>
            <a:ahLst/>
            <a:cxnLst/>
            <a:rect r="r" b="b" t="t" l="l"/>
            <a:pathLst>
              <a:path h="783367" w="846883">
                <a:moveTo>
                  <a:pt x="0" y="0"/>
                </a:moveTo>
                <a:lnTo>
                  <a:pt x="846883" y="0"/>
                </a:lnTo>
                <a:lnTo>
                  <a:pt x="846883" y="783367"/>
                </a:lnTo>
                <a:lnTo>
                  <a:pt x="0" y="783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742107" y="5895059"/>
            <a:ext cx="884416" cy="751754"/>
          </a:xfrm>
          <a:custGeom>
            <a:avLst/>
            <a:gdLst/>
            <a:ahLst/>
            <a:cxnLst/>
            <a:rect r="r" b="b" t="t" l="l"/>
            <a:pathLst>
              <a:path h="751754" w="884416">
                <a:moveTo>
                  <a:pt x="0" y="0"/>
                </a:moveTo>
                <a:lnTo>
                  <a:pt x="884416" y="0"/>
                </a:lnTo>
                <a:lnTo>
                  <a:pt x="884416" y="751754"/>
                </a:lnTo>
                <a:lnTo>
                  <a:pt x="0" y="7517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340069" y="5943509"/>
            <a:ext cx="765256" cy="765256"/>
          </a:xfrm>
          <a:custGeom>
            <a:avLst/>
            <a:gdLst/>
            <a:ahLst/>
            <a:cxnLst/>
            <a:rect r="r" b="b" t="t" l="l"/>
            <a:pathLst>
              <a:path h="765256" w="765256">
                <a:moveTo>
                  <a:pt x="0" y="0"/>
                </a:moveTo>
                <a:lnTo>
                  <a:pt x="765256" y="0"/>
                </a:lnTo>
                <a:lnTo>
                  <a:pt x="765256" y="765256"/>
                </a:lnTo>
                <a:lnTo>
                  <a:pt x="0" y="7652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1283685" y="7792283"/>
            <a:ext cx="787408" cy="783367"/>
            <a:chOff x="0" y="0"/>
            <a:chExt cx="207383" cy="2063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7383" cy="206319"/>
            </a:xfrm>
            <a:custGeom>
              <a:avLst/>
              <a:gdLst/>
              <a:ahLst/>
              <a:cxnLst/>
              <a:rect r="r" b="b" t="t" l="l"/>
              <a:pathLst>
                <a:path h="206319" w="207383">
                  <a:moveTo>
                    <a:pt x="78657" y="0"/>
                  </a:moveTo>
                  <a:lnTo>
                    <a:pt x="128726" y="0"/>
                  </a:lnTo>
                  <a:cubicBezTo>
                    <a:pt x="149587" y="0"/>
                    <a:pt x="169594" y="8287"/>
                    <a:pt x="184345" y="23038"/>
                  </a:cubicBezTo>
                  <a:cubicBezTo>
                    <a:pt x="199096" y="37789"/>
                    <a:pt x="207383" y="57796"/>
                    <a:pt x="207383" y="78657"/>
                  </a:cubicBezTo>
                  <a:lnTo>
                    <a:pt x="207383" y="127662"/>
                  </a:lnTo>
                  <a:cubicBezTo>
                    <a:pt x="207383" y="171103"/>
                    <a:pt x="172167" y="206319"/>
                    <a:pt x="128726" y="206319"/>
                  </a:cubicBezTo>
                  <a:lnTo>
                    <a:pt x="78657" y="206319"/>
                  </a:lnTo>
                  <a:cubicBezTo>
                    <a:pt x="57796" y="206319"/>
                    <a:pt x="37789" y="198032"/>
                    <a:pt x="23038" y="183281"/>
                  </a:cubicBezTo>
                  <a:cubicBezTo>
                    <a:pt x="8287" y="168530"/>
                    <a:pt x="0" y="148523"/>
                    <a:pt x="0" y="127662"/>
                  </a:cubicBezTo>
                  <a:lnTo>
                    <a:pt x="0" y="78657"/>
                  </a:lnTo>
                  <a:cubicBezTo>
                    <a:pt x="0" y="57796"/>
                    <a:pt x="8287" y="37789"/>
                    <a:pt x="23038" y="23038"/>
                  </a:cubicBezTo>
                  <a:cubicBezTo>
                    <a:pt x="37789" y="8287"/>
                    <a:pt x="57796" y="0"/>
                    <a:pt x="78657" y="0"/>
                  </a:cubicBezTo>
                  <a:close/>
                </a:path>
              </a:pathLst>
            </a:custGeom>
            <a:solidFill>
              <a:srgbClr val="006C8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07383" cy="253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407564" y="7914867"/>
            <a:ext cx="539649" cy="53964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C84"/>
            </a:solidFill>
            <a:ln w="76200" cap="sq">
              <a:solidFill>
                <a:srgbClr val="00DDE4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751730" y="952500"/>
            <a:ext cx="878453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0F3D24"/>
                </a:solidFill>
                <a:latin typeface="Nunito Sans Expanded Ultra-Bold"/>
                <a:ea typeface="Nunito Sans Expanded Ultra-Bold"/>
                <a:cs typeface="Nunito Sans Expanded Ultra-Bold"/>
                <a:sym typeface="Nunito Sans Expanded Ultra-Bold"/>
              </a:rPr>
              <a:t>Product Metrics &amp; Results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41087" y="5623612"/>
            <a:ext cx="3860598" cy="30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4"/>
              </a:lnSpc>
              <a:spcBef>
                <a:spcPct val="0"/>
              </a:spcBef>
            </a:pPr>
            <a:r>
              <a:rPr lang="en-US" b="true" sz="1817" strike="noStrike" u="non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Landing Page Views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34263" y="5620490"/>
            <a:ext cx="3860598" cy="31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4"/>
              </a:lnSpc>
              <a:spcBef>
                <a:spcPct val="0"/>
              </a:spcBef>
            </a:pPr>
            <a:r>
              <a:rPr lang="en-US" b="true" sz="1817" strike="noStrike" u="non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CTA Click-Through Rate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041087" y="7503150"/>
            <a:ext cx="3860598" cy="31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4"/>
              </a:lnSpc>
              <a:spcBef>
                <a:spcPct val="0"/>
              </a:spcBef>
            </a:pPr>
            <a:r>
              <a:rPr lang="en-US" b="true" sz="1817" strike="noStrike" u="non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Active Testers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34263" y="7503150"/>
            <a:ext cx="3860598" cy="31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4"/>
              </a:lnSpc>
              <a:spcBef>
                <a:spcPct val="0"/>
              </a:spcBef>
            </a:pPr>
            <a:r>
              <a:rPr lang="en-US" b="true" sz="1817" strike="noStrike" u="non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Task Completion Rate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427405" y="2146599"/>
            <a:ext cx="9433191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 strike="noStrike" u="none">
                <a:solidFill>
                  <a:srgbClr val="0F3D2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Digital Acquisition &amp; Usability Performance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41087" y="6202777"/>
            <a:ext cx="3262983" cy="50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5"/>
              </a:lnSpc>
              <a:spcBef>
                <a:spcPct val="0"/>
              </a:spcBef>
            </a:pPr>
            <a:r>
              <a:rPr lang="en-US" sz="1454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365 total views recorded — far exceeding the target of ≥100 views.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534263" y="6208019"/>
            <a:ext cx="4118763" cy="491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5"/>
              </a:lnSpc>
              <a:spcBef>
                <a:spcPct val="0"/>
              </a:spcBef>
            </a:pPr>
            <a:r>
              <a:rPr lang="en-US" sz="1454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41.37% CTR with 151 clicks — strong user intent and engagement signal.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41087" y="8084069"/>
            <a:ext cx="3262983" cy="491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5"/>
              </a:lnSpc>
              <a:spcBef>
                <a:spcPct val="0"/>
              </a:spcBef>
            </a:pPr>
            <a:r>
              <a:rPr lang="en-US" sz="1454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48 active testers (13.15% conversion) from 365 landing page visitors.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534263" y="8084069"/>
            <a:ext cx="3262983" cy="491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5"/>
              </a:lnSpc>
              <a:spcBef>
                <a:spcPct val="0"/>
              </a:spcBef>
            </a:pPr>
            <a:r>
              <a:rPr lang="en-US" sz="1454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80% task completion (16/20 users); usefulness score 4.35/5.0.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372734" y="2956224"/>
            <a:ext cx="1354253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Key performance indicators from our live prototype launch, user testing sessions, and digital acquisition funnel — validating real demand and proven usability.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77591" y="0"/>
            <a:ext cx="4510409" cy="10287000"/>
            <a:chOff x="0" y="0"/>
            <a:chExt cx="118792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792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87927">
                  <a:moveTo>
                    <a:pt x="0" y="0"/>
                  </a:moveTo>
                  <a:lnTo>
                    <a:pt x="1187927" y="0"/>
                  </a:lnTo>
                  <a:lnTo>
                    <a:pt x="11879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3D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87927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52500"/>
            <a:ext cx="811530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0F3D24"/>
                </a:solidFill>
                <a:latin typeface="Nunito Sans Expanded Ultra-Bold"/>
                <a:ea typeface="Nunito Sans Expanded Ultra-Bold"/>
                <a:cs typeface="Nunito Sans Expanded Ultra-Bold"/>
                <a:sym typeface="Nunito Sans Expanded Ultra-Bold"/>
              </a:rPr>
              <a:t>Technical Architecture &amp; Responsible IT Design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5925509"/>
            <a:ext cx="13777591" cy="4361491"/>
            <a:chOff x="0" y="0"/>
            <a:chExt cx="3628666" cy="11487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28666" cy="1148705"/>
            </a:xfrm>
            <a:custGeom>
              <a:avLst/>
              <a:gdLst/>
              <a:ahLst/>
              <a:cxnLst/>
              <a:rect r="r" b="b" t="t" l="l"/>
              <a:pathLst>
                <a:path h="1148705" w="3628666">
                  <a:moveTo>
                    <a:pt x="0" y="0"/>
                  </a:moveTo>
                  <a:lnTo>
                    <a:pt x="3628666" y="0"/>
                  </a:lnTo>
                  <a:lnTo>
                    <a:pt x="3628666" y="1148705"/>
                  </a:lnTo>
                  <a:lnTo>
                    <a:pt x="0" y="1148705"/>
                  </a:lnTo>
                  <a:close/>
                </a:path>
              </a:pathLst>
            </a:custGeom>
            <a:solidFill>
              <a:srgbClr val="8EFFC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628666" cy="1196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389886"/>
            <a:ext cx="700490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F3D2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Zero-Hardware Stack · Privacy-First · Open-Source Compliant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28869" y="6231890"/>
            <a:ext cx="7432794" cy="302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</a:t>
            </a:r>
            <a:r>
              <a:rPr lang="en-US" sz="159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     :  HTML5, Tailwind CSS, Vanilla JS — responsive across mobile &amp; desktop browsers.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</a:t>
            </a:r>
            <a:r>
              <a:rPr lang="en-US" sz="159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      :   Lightweight Express.js REST API · JSON file storage · client-side localStorage fallback.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</a:t>
            </a:r>
            <a:r>
              <a:rPr lang="en-US" sz="159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: Zero-latency queries, offline persistence, clean              data/presentation separation.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Responsible IT Principles: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1599" strike="noStrike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minimization</a:t>
            </a:r>
            <a:r>
              <a:rPr lang="en-US" sz="159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— no sensitive fields collected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1599" strike="noStrike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PII protection </a:t>
            </a:r>
            <a:r>
              <a:rPr lang="en-US" sz="159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— masked student IDs &amp; emails (65XXXXX@au.edu)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1599" strike="noStrike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Role-based access control</a:t>
            </a:r>
            <a:r>
              <a:rPr lang="en-US" sz="159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— editing restricted to authorized staff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1599" strike="noStrike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Open-source compliance</a:t>
            </a:r>
            <a:r>
              <a:rPr lang="en-US" sz="159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 MIT, SIL OFL, Apache 2.0 licenses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5925509"/>
            <a:ext cx="2361842" cy="3306819"/>
            <a:chOff x="0" y="0"/>
            <a:chExt cx="629842" cy="881843"/>
          </a:xfrm>
        </p:grpSpPr>
        <p:sp>
          <p:nvSpPr>
            <p:cNvPr name="Freeform 12" id="12"/>
            <p:cNvSpPr/>
            <p:nvPr/>
          </p:nvSpPr>
          <p:spPr>
            <a:xfrm flipH="false" flipV="false" rot="6000">
              <a:off x="-723" y="-503"/>
              <a:ext cx="631289" cy="882850"/>
            </a:xfrm>
            <a:custGeom>
              <a:avLst/>
              <a:gdLst/>
              <a:ahLst/>
              <a:cxnLst/>
              <a:rect r="r" b="b" t="t" l="l"/>
              <a:pathLst>
                <a:path h="882850" w="631289">
                  <a:moveTo>
                    <a:pt x="26177" y="1008"/>
                  </a:moveTo>
                  <a:lnTo>
                    <a:pt x="603572" y="0"/>
                  </a:lnTo>
                  <a:cubicBezTo>
                    <a:pt x="610527" y="-12"/>
                    <a:pt x="617202" y="2739"/>
                    <a:pt x="622128" y="7648"/>
                  </a:cubicBezTo>
                  <a:cubicBezTo>
                    <a:pt x="627055" y="12557"/>
                    <a:pt x="629829" y="19222"/>
                    <a:pt x="629841" y="26177"/>
                  </a:cubicBezTo>
                  <a:lnTo>
                    <a:pt x="631289" y="855573"/>
                  </a:lnTo>
                  <a:cubicBezTo>
                    <a:pt x="631314" y="870055"/>
                    <a:pt x="619594" y="881816"/>
                    <a:pt x="605111" y="881842"/>
                  </a:cubicBezTo>
                  <a:lnTo>
                    <a:pt x="27716" y="882849"/>
                  </a:lnTo>
                  <a:cubicBezTo>
                    <a:pt x="20761" y="882862"/>
                    <a:pt x="14087" y="880110"/>
                    <a:pt x="9160" y="875201"/>
                  </a:cubicBezTo>
                  <a:cubicBezTo>
                    <a:pt x="4234" y="870292"/>
                    <a:pt x="1459" y="863627"/>
                    <a:pt x="1447" y="856672"/>
                  </a:cubicBezTo>
                  <a:lnTo>
                    <a:pt x="0" y="27277"/>
                  </a:lnTo>
                  <a:cubicBezTo>
                    <a:pt x="-12" y="20322"/>
                    <a:pt x="2739" y="13647"/>
                    <a:pt x="7648" y="8721"/>
                  </a:cubicBezTo>
                  <a:cubicBezTo>
                    <a:pt x="12557" y="3794"/>
                    <a:pt x="19222" y="1020"/>
                    <a:pt x="26177" y="1008"/>
                  </a:cubicBezTo>
                  <a:close/>
                </a:path>
              </a:pathLst>
            </a:custGeom>
            <a:blipFill>
              <a:blip r:embed="rId2"/>
              <a:stretch>
                <a:fillRect l="-46091" t="-5" r="-30267" b="-9077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299989" y="2407920"/>
            <a:ext cx="5326496" cy="4611709"/>
            <a:chOff x="0" y="0"/>
            <a:chExt cx="1107239" cy="958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7239" cy="958653"/>
            </a:xfrm>
            <a:custGeom>
              <a:avLst/>
              <a:gdLst/>
              <a:ahLst/>
              <a:cxnLst/>
              <a:rect r="r" b="b" t="t" l="l"/>
              <a:pathLst>
                <a:path h="958653" w="1107239">
                  <a:moveTo>
                    <a:pt x="7267" y="0"/>
                  </a:moveTo>
                  <a:lnTo>
                    <a:pt x="1099971" y="0"/>
                  </a:lnTo>
                  <a:cubicBezTo>
                    <a:pt x="1101899" y="0"/>
                    <a:pt x="1103747" y="766"/>
                    <a:pt x="1105110" y="2129"/>
                  </a:cubicBezTo>
                  <a:cubicBezTo>
                    <a:pt x="1106473" y="3491"/>
                    <a:pt x="1107239" y="5340"/>
                    <a:pt x="1107239" y="7267"/>
                  </a:cubicBezTo>
                  <a:lnTo>
                    <a:pt x="1107239" y="951386"/>
                  </a:lnTo>
                  <a:cubicBezTo>
                    <a:pt x="1107239" y="955400"/>
                    <a:pt x="1103985" y="958653"/>
                    <a:pt x="1099971" y="958653"/>
                  </a:cubicBezTo>
                  <a:lnTo>
                    <a:pt x="7267" y="958653"/>
                  </a:lnTo>
                  <a:cubicBezTo>
                    <a:pt x="3254" y="958653"/>
                    <a:pt x="0" y="955400"/>
                    <a:pt x="0" y="951386"/>
                  </a:cubicBezTo>
                  <a:lnTo>
                    <a:pt x="0" y="7267"/>
                  </a:lnTo>
                  <a:cubicBezTo>
                    <a:pt x="0" y="3254"/>
                    <a:pt x="3254" y="0"/>
                    <a:pt x="7267" y="0"/>
                  </a:cubicBezTo>
                  <a:close/>
                </a:path>
              </a:pathLst>
            </a:custGeom>
            <a:blipFill>
              <a:blip r:embed="rId3"/>
              <a:stretch>
                <a:fillRect l="-46" t="0" r="-46" b="0"/>
              </a:stretch>
            </a:blipFill>
            <a:ln w="76200" cap="sq">
              <a:gradFill>
                <a:gsLst>
                  <a:gs pos="0">
                    <a:srgbClr val="58C2FF">
                      <a:alpha val="100000"/>
                    </a:srgbClr>
                  </a:gs>
                  <a:gs pos="100000">
                    <a:srgbClr val="3BBF27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63486" y="952500"/>
            <a:ext cx="12161028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0F3D24"/>
                </a:solidFill>
                <a:latin typeface="Nunito Sans Expanded Ultra-Bold"/>
                <a:ea typeface="Nunito Sans Expanded Ultra-Bold"/>
                <a:cs typeface="Nunito Sans Expanded Ultra-Bold"/>
                <a:sym typeface="Nunito Sans Expanded Ultra-Bold"/>
              </a:rPr>
              <a:t>Product Iterations &amp; Future Roadmap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35380" y="1809478"/>
            <a:ext cx="871070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F3D2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From MVP to Next-Generation Campus Recovery Platform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85790" y="3030311"/>
            <a:ext cx="10715339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2E4230"/>
                </a:solidFill>
                <a:latin typeface="Montserrat"/>
                <a:ea typeface="Montserrat"/>
                <a:cs typeface="Montserrat"/>
                <a:sym typeface="Montserrat"/>
              </a:rPr>
              <a:t>Lemon has completed core MVP milestones through iterative testing and is now positioned for advanced feature development and production-scale deployment.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5875450"/>
            <a:ext cx="18288000" cy="5938175"/>
            <a:chOff x="0" y="0"/>
            <a:chExt cx="4816593" cy="15639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563964"/>
            </a:xfrm>
            <a:custGeom>
              <a:avLst/>
              <a:gdLst/>
              <a:ahLst/>
              <a:cxnLst/>
              <a:rect r="r" b="b" t="t" l="l"/>
              <a:pathLst>
                <a:path h="156396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63964"/>
                  </a:lnTo>
                  <a:lnTo>
                    <a:pt x="0" y="1563964"/>
                  </a:lnTo>
                  <a:close/>
                </a:path>
              </a:pathLst>
            </a:custGeom>
            <a:solidFill>
              <a:srgbClr val="0F3D2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611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00167" y="4413044"/>
            <a:ext cx="3883499" cy="3340056"/>
            <a:chOff x="0" y="0"/>
            <a:chExt cx="1022815" cy="879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2815" cy="879686"/>
            </a:xfrm>
            <a:custGeom>
              <a:avLst/>
              <a:gdLst/>
              <a:ahLst/>
              <a:cxnLst/>
              <a:rect r="r" b="b" t="t" l="l"/>
              <a:pathLst>
                <a:path h="879686" w="1022815">
                  <a:moveTo>
                    <a:pt x="0" y="0"/>
                  </a:moveTo>
                  <a:lnTo>
                    <a:pt x="1022815" y="0"/>
                  </a:lnTo>
                  <a:lnTo>
                    <a:pt x="1022815" y="879686"/>
                  </a:lnTo>
                  <a:lnTo>
                    <a:pt x="0" y="879686"/>
                  </a:lnTo>
                  <a:close/>
                </a:path>
              </a:pathLst>
            </a:custGeom>
            <a:solidFill>
              <a:srgbClr val="D4FFD4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22815" cy="927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318629" y="5520586"/>
            <a:ext cx="2935589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Mobile Optimization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201709" y="4413044"/>
            <a:ext cx="3883499" cy="3340056"/>
            <a:chOff x="0" y="0"/>
            <a:chExt cx="1022815" cy="8796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2815" cy="879686"/>
            </a:xfrm>
            <a:custGeom>
              <a:avLst/>
              <a:gdLst/>
              <a:ahLst/>
              <a:cxnLst/>
              <a:rect r="r" b="b" t="t" l="l"/>
              <a:pathLst>
                <a:path h="879686" w="1022815">
                  <a:moveTo>
                    <a:pt x="0" y="0"/>
                  </a:moveTo>
                  <a:lnTo>
                    <a:pt x="1022815" y="0"/>
                  </a:lnTo>
                  <a:lnTo>
                    <a:pt x="1022815" y="879686"/>
                  </a:lnTo>
                  <a:lnTo>
                    <a:pt x="0" y="879686"/>
                  </a:lnTo>
                  <a:close/>
                </a:path>
              </a:pathLst>
            </a:custGeom>
            <a:solidFill>
              <a:srgbClr val="D4FFD4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22815" cy="927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704334" y="4413044"/>
            <a:ext cx="3883499" cy="3340056"/>
            <a:chOff x="0" y="0"/>
            <a:chExt cx="1022815" cy="8796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2815" cy="879686"/>
            </a:xfrm>
            <a:custGeom>
              <a:avLst/>
              <a:gdLst/>
              <a:ahLst/>
              <a:cxnLst/>
              <a:rect r="r" b="b" t="t" l="l"/>
              <a:pathLst>
                <a:path h="879686" w="1022815">
                  <a:moveTo>
                    <a:pt x="0" y="0"/>
                  </a:moveTo>
                  <a:lnTo>
                    <a:pt x="1022815" y="0"/>
                  </a:lnTo>
                  <a:lnTo>
                    <a:pt x="1022815" y="879686"/>
                  </a:lnTo>
                  <a:lnTo>
                    <a:pt x="0" y="879686"/>
                  </a:lnTo>
                  <a:close/>
                </a:path>
              </a:pathLst>
            </a:custGeom>
            <a:solidFill>
              <a:srgbClr val="D4FFD4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22815" cy="927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174122" y="6121827"/>
            <a:ext cx="2935589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Status Badges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6206" y="6007527"/>
            <a:ext cx="2935589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Color-coded Pending, Available, Claimed, Closed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98637" y="4656916"/>
            <a:ext cx="168656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500" strike="noStrike" u="none">
                <a:solidFill>
                  <a:srgbClr val="0F3D2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Completed MVP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92657" y="4656916"/>
            <a:ext cx="310160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500" strike="noStrike" u="none">
                <a:solidFill>
                  <a:srgbClr val="0F3D2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Improvement Details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74122" y="6661891"/>
            <a:ext cx="2935589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Dashboard Nav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75665" y="6547591"/>
            <a:ext cx="2935589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Admin portal access added to all pages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70745" y="7200371"/>
            <a:ext cx="2935589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Privacy Masking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75665" y="7086071"/>
            <a:ext cx="2935589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Masked Student IDs and emails for privacy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78289" y="5536994"/>
            <a:ext cx="2935589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PostgreSQL / MongoDB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78289" y="6123411"/>
            <a:ext cx="2935589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WebSocket Anon Chat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638513" y="4708149"/>
            <a:ext cx="201514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500" strike="noStrike" u="none">
                <a:solidFill>
                  <a:srgbClr val="0F3D2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Future Roadmap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80584" y="6661891"/>
            <a:ext cx="2935589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AI Photo Matching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78289" y="7200371"/>
            <a:ext cx="2935589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Auth &amp; Role Scaling</a:t>
            </a:r>
          </a:p>
        </p:txBody>
      </p:sp>
      <p:sp>
        <p:nvSpPr>
          <p:cNvPr name="AutoShape 31" id="31"/>
          <p:cNvSpPr/>
          <p:nvPr/>
        </p:nvSpPr>
        <p:spPr>
          <a:xfrm>
            <a:off x="3029615" y="5124450"/>
            <a:ext cx="322460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7531158" y="5162550"/>
            <a:ext cx="322460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2032700" y="5200650"/>
            <a:ext cx="322460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7676206" y="5353050"/>
            <a:ext cx="2935589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Nav drawe</a:t>
            </a:r>
            <a:r>
              <a:rPr lang="en-US" sz="129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rs, stacked hero forms, filter accordions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528572" y="7676280"/>
            <a:ext cx="1878817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2599">
                <a:solidFill>
                  <a:srgbClr val="00DDE4"/>
                </a:solidFill>
                <a:latin typeface="Nickainley"/>
                <a:ea typeface="Nickainley"/>
                <a:cs typeface="Nickainley"/>
                <a:sym typeface="Nickainley"/>
              </a:rPr>
              <a:t>Lemon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5875450"/>
            <a:ext cx="18288000" cy="5938175"/>
            <a:chOff x="0" y="0"/>
            <a:chExt cx="4816593" cy="15639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563964"/>
            </a:xfrm>
            <a:custGeom>
              <a:avLst/>
              <a:gdLst/>
              <a:ahLst/>
              <a:cxnLst/>
              <a:rect r="r" b="b" t="t" l="l"/>
              <a:pathLst>
                <a:path h="156396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63964"/>
                  </a:lnTo>
                  <a:lnTo>
                    <a:pt x="0" y="1563964"/>
                  </a:lnTo>
                  <a:close/>
                </a:path>
              </a:pathLst>
            </a:custGeom>
            <a:solidFill>
              <a:srgbClr val="0F3D2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1611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766083" y="1353183"/>
            <a:ext cx="7403795" cy="8154752"/>
          </a:xfrm>
          <a:custGeom>
            <a:avLst/>
            <a:gdLst/>
            <a:ahLst/>
            <a:cxnLst/>
            <a:rect r="r" b="b" t="t" l="l"/>
            <a:pathLst>
              <a:path h="8154752" w="7403795">
                <a:moveTo>
                  <a:pt x="0" y="0"/>
                </a:moveTo>
                <a:lnTo>
                  <a:pt x="7403796" y="0"/>
                </a:lnTo>
                <a:lnTo>
                  <a:pt x="7403796" y="8154752"/>
                </a:lnTo>
                <a:lnTo>
                  <a:pt x="0" y="815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031867" y="7823600"/>
            <a:ext cx="1366684" cy="1646608"/>
          </a:xfrm>
          <a:custGeom>
            <a:avLst/>
            <a:gdLst/>
            <a:ahLst/>
            <a:cxnLst/>
            <a:rect r="r" b="b" t="t" l="l"/>
            <a:pathLst>
              <a:path h="1646608" w="1366684">
                <a:moveTo>
                  <a:pt x="1366684" y="0"/>
                </a:moveTo>
                <a:lnTo>
                  <a:pt x="0" y="0"/>
                </a:lnTo>
                <a:lnTo>
                  <a:pt x="0" y="1646607"/>
                </a:lnTo>
                <a:lnTo>
                  <a:pt x="1366684" y="1646607"/>
                </a:lnTo>
                <a:lnTo>
                  <a:pt x="136668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31867" y="923925"/>
            <a:ext cx="9387723" cy="1918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4"/>
              </a:lnSpc>
              <a:spcBef>
                <a:spcPct val="0"/>
              </a:spcBef>
            </a:pPr>
            <a:r>
              <a:rPr lang="en-US" b="true" sz="5496" strike="noStrike" u="none">
                <a:solidFill>
                  <a:srgbClr val="0F3D24"/>
                </a:solidFill>
                <a:latin typeface="Nunito Sans Expanded Ultra-Bold"/>
                <a:ea typeface="Nunito Sans Expanded Ultra-Bold"/>
                <a:cs typeface="Nunito Sans Expanded Ultra-Bold"/>
                <a:sym typeface="Nunito Sans Expanded Ultra-Bold"/>
              </a:rPr>
              <a:t>Transform Campus Recovery with Lemon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1867" y="3288203"/>
            <a:ext cx="657808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0F3D2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Thank You — 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DAHQ0j25LNs</dc:identifier>
  <dcterms:modified xsi:type="dcterms:W3CDTF">2011-08-01T06:04:30Z</dcterms:modified>
  <cp:revision>1</cp:revision>
  <dc:title>Lemon Smart Campus Lost-and-Found Pitch</dc:title>
</cp:coreProperties>
</file>